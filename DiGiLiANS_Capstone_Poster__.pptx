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256" r:id="rId5"/>
  </p:sldIdLst>
  <p:sldSz cx="32918400" cy="43891200"/>
  <p:notesSz cx="7315200" cy="9601200"/>
  <p:defaultTextStyle>
    <a:defPPr>
      <a:defRPr lang="en-US"/>
    </a:defPPr>
    <a:lvl1pPr algn="l" defTabSz="2193925" rtl="0" fontAlgn="base">
      <a:spcBef>
        <a:spcPct val="0"/>
      </a:spcBef>
      <a:spcAft>
        <a:spcPct val="0"/>
      </a:spcAft>
      <a:defRPr sz="8600" kern="1200">
        <a:solidFill>
          <a:schemeClr val="tx1"/>
        </a:solidFill>
        <a:latin typeface="Arial" charset="0"/>
        <a:ea typeface="MS PGothic" pitchFamily="34" charset="-128"/>
        <a:cs typeface="+mn-cs"/>
      </a:defRPr>
    </a:lvl1pPr>
    <a:lvl2pPr marL="2193925" indent="-1736725" algn="l" defTabSz="2193925" rtl="0" fontAlgn="base">
      <a:spcBef>
        <a:spcPct val="0"/>
      </a:spcBef>
      <a:spcAft>
        <a:spcPct val="0"/>
      </a:spcAft>
      <a:defRPr sz="8600" kern="1200">
        <a:solidFill>
          <a:schemeClr val="tx1"/>
        </a:solidFill>
        <a:latin typeface="Arial" charset="0"/>
        <a:ea typeface="MS PGothic" pitchFamily="34" charset="-128"/>
        <a:cs typeface="+mn-cs"/>
      </a:defRPr>
    </a:lvl2pPr>
    <a:lvl3pPr marL="4387850" indent="-3473450" algn="l" defTabSz="2193925" rtl="0" fontAlgn="base">
      <a:spcBef>
        <a:spcPct val="0"/>
      </a:spcBef>
      <a:spcAft>
        <a:spcPct val="0"/>
      </a:spcAft>
      <a:defRPr sz="8600" kern="1200">
        <a:solidFill>
          <a:schemeClr val="tx1"/>
        </a:solidFill>
        <a:latin typeface="Arial" charset="0"/>
        <a:ea typeface="MS PGothic" pitchFamily="34" charset="-128"/>
        <a:cs typeface="+mn-cs"/>
      </a:defRPr>
    </a:lvl3pPr>
    <a:lvl4pPr marL="6583363" indent="-5211763" algn="l" defTabSz="2193925" rtl="0" fontAlgn="base">
      <a:spcBef>
        <a:spcPct val="0"/>
      </a:spcBef>
      <a:spcAft>
        <a:spcPct val="0"/>
      </a:spcAft>
      <a:defRPr sz="8600" kern="1200">
        <a:solidFill>
          <a:schemeClr val="tx1"/>
        </a:solidFill>
        <a:latin typeface="Arial" charset="0"/>
        <a:ea typeface="MS PGothic" pitchFamily="34" charset="-128"/>
        <a:cs typeface="+mn-cs"/>
      </a:defRPr>
    </a:lvl4pPr>
    <a:lvl5pPr marL="8777288" indent="-6948488" algn="l" defTabSz="2193925" rtl="0" fontAlgn="base">
      <a:spcBef>
        <a:spcPct val="0"/>
      </a:spcBef>
      <a:spcAft>
        <a:spcPct val="0"/>
      </a:spcAft>
      <a:defRPr sz="8600" kern="1200">
        <a:solidFill>
          <a:schemeClr val="tx1"/>
        </a:solidFill>
        <a:latin typeface="Arial" charset="0"/>
        <a:ea typeface="MS PGothic" pitchFamily="34" charset="-128"/>
        <a:cs typeface="+mn-cs"/>
      </a:defRPr>
    </a:lvl5pPr>
    <a:lvl6pPr marL="2286000" algn="l" defTabSz="914400" rtl="0" eaLnBrk="1" latinLnBrk="0" hangingPunct="1">
      <a:defRPr sz="8600" kern="1200">
        <a:solidFill>
          <a:schemeClr val="tx1"/>
        </a:solidFill>
        <a:latin typeface="Arial" charset="0"/>
        <a:ea typeface="MS PGothic" pitchFamily="34" charset="-128"/>
        <a:cs typeface="+mn-cs"/>
      </a:defRPr>
    </a:lvl6pPr>
    <a:lvl7pPr marL="2743200" algn="l" defTabSz="914400" rtl="0" eaLnBrk="1" latinLnBrk="0" hangingPunct="1">
      <a:defRPr sz="8600" kern="1200">
        <a:solidFill>
          <a:schemeClr val="tx1"/>
        </a:solidFill>
        <a:latin typeface="Arial" charset="0"/>
        <a:ea typeface="MS PGothic" pitchFamily="34" charset="-128"/>
        <a:cs typeface="+mn-cs"/>
      </a:defRPr>
    </a:lvl7pPr>
    <a:lvl8pPr marL="3200400" algn="l" defTabSz="914400" rtl="0" eaLnBrk="1" latinLnBrk="0" hangingPunct="1">
      <a:defRPr sz="8600" kern="1200">
        <a:solidFill>
          <a:schemeClr val="tx1"/>
        </a:solidFill>
        <a:latin typeface="Arial" charset="0"/>
        <a:ea typeface="MS PGothic" pitchFamily="34" charset="-128"/>
        <a:cs typeface="+mn-cs"/>
      </a:defRPr>
    </a:lvl8pPr>
    <a:lvl9pPr marL="3657600" algn="l" defTabSz="914400" rtl="0" eaLnBrk="1" latinLnBrk="0" hangingPunct="1">
      <a:defRPr sz="8600" kern="1200">
        <a:solidFill>
          <a:schemeClr val="tx1"/>
        </a:solidFill>
        <a:latin typeface="Arial" charset="0"/>
        <a:ea typeface="MS PGothic" pitchFamily="34" charset="-128"/>
        <a:cs typeface="+mn-cs"/>
      </a:defRPr>
    </a:lvl9pPr>
  </p:defaultTextStyle>
  <p:extLst>
    <p:ext uri="{EFAFB233-063F-42B5-8137-9DF3F51BA10A}">
      <p15:sldGuideLst xmlns:p15="http://schemas.microsoft.com/office/powerpoint/2012/main">
        <p15:guide id="1" orient="horz" pos="13824">
          <p15:clr>
            <a:srgbClr val="A4A3A4"/>
          </p15:clr>
        </p15:guide>
        <p15:guide id="2"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DF4"/>
    <a:srgbClr val="4E82BD"/>
    <a:srgbClr val="4A1766"/>
    <a:srgbClr val="F7F20E"/>
    <a:srgbClr val="D0D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AA7FD9-C427-F44F-9426-F96E67CCC7F6}" v="17" dt="2022-05-19T15:46:01.848"/>
    <p1510:client id="{F1C572AD-1D02-3301-7CA9-F89F8ACC7F53}" v="1" dt="2022-05-19T13:57:59.2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نمط متوسط 2 - تميي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نمط متوسط 2 - تميي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نمط متوسط 2 - تميي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نمط متوسط 2 - تميي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نمط متوسط 2 - تميي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بلا نمط، شبكة جدول">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النمط المتوسط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6340" autoAdjust="0"/>
  </p:normalViewPr>
  <p:slideViewPr>
    <p:cSldViewPr snapToObjects="1">
      <p:cViewPr>
        <p:scale>
          <a:sx n="51" d="100"/>
          <a:sy n="51" d="100"/>
        </p:scale>
        <p:origin x="210" y="-8778"/>
      </p:cViewPr>
      <p:guideLst>
        <p:guide orient="horz" pos="13824"/>
        <p:guide pos="10368"/>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wrap="square" lIns="96661" tIns="48331" rIns="96661" bIns="48331" numCol="1" anchor="t" anchorCtr="0" compatLnSpc="1">
            <a:prstTxWarp prst="textNoShape">
              <a:avLst/>
            </a:prstTxWarp>
          </a:bodyPr>
          <a:lstStyle>
            <a:lvl1pPr>
              <a:defRPr sz="1300">
                <a:latin typeface="Calibri" pitchFamily="48" charset="0"/>
                <a:ea typeface="ＭＳ Ｐゴシック" pitchFamily="48" charset="-128"/>
                <a:cs typeface="ＭＳ Ｐゴシック" pitchFamily="48" charset="-128"/>
              </a:defRPr>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wrap="square" lIns="96661" tIns="48331" rIns="96661" bIns="48331" numCol="1" anchor="t" anchorCtr="0" compatLnSpc="1">
            <a:prstTxWarp prst="textNoShape">
              <a:avLst/>
            </a:prstTxWarp>
          </a:bodyPr>
          <a:lstStyle>
            <a:lvl1pPr algn="r">
              <a:defRPr sz="1300">
                <a:latin typeface="Calibri" pitchFamily="48" charset="0"/>
                <a:ea typeface="ＭＳ Ｐゴシック" pitchFamily="48" charset="-128"/>
              </a:defRPr>
            </a:lvl1pPr>
          </a:lstStyle>
          <a:p>
            <a:pPr>
              <a:defRPr/>
            </a:pPr>
            <a:fld id="{E22587C7-780E-422B-94DA-743F2C8C5832}" type="datetime1">
              <a:rPr lang="en-US"/>
              <a:pPr>
                <a:defRPr/>
              </a:pPr>
              <a:t>9/9/2026</a:t>
            </a:fld>
            <a:endParaRPr lang="en-US"/>
          </a:p>
        </p:txBody>
      </p:sp>
      <p:sp>
        <p:nvSpPr>
          <p:cNvPr id="4" name="Slide Image Placeholder 3"/>
          <p:cNvSpPr>
            <a:spLocks noGrp="1" noRot="1" noChangeAspect="1"/>
          </p:cNvSpPr>
          <p:nvPr>
            <p:ph type="sldImg" idx="2"/>
          </p:nvPr>
        </p:nvSpPr>
        <p:spPr>
          <a:xfrm>
            <a:off x="2306638" y="720725"/>
            <a:ext cx="2701925" cy="3600450"/>
          </a:xfrm>
          <a:prstGeom prst="rect">
            <a:avLst/>
          </a:prstGeom>
          <a:noFill/>
          <a:ln w="12700">
            <a:solidFill>
              <a:prstClr val="black"/>
            </a:solidFill>
          </a:ln>
        </p:spPr>
        <p:txBody>
          <a:bodyPr vert="horz" wrap="square" lIns="96661" tIns="48331" rIns="96661" bIns="48331"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31520" y="4560570"/>
            <a:ext cx="5852160" cy="4320540"/>
          </a:xfrm>
          <a:prstGeom prst="rect">
            <a:avLst/>
          </a:prstGeom>
        </p:spPr>
        <p:txBody>
          <a:bodyPr vert="horz" wrap="square" lIns="96661" tIns="48331" rIns="96661" bIns="48331"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wrap="square" lIns="96661" tIns="48331" rIns="96661" bIns="48331" numCol="1" anchor="b" anchorCtr="0" compatLnSpc="1">
            <a:prstTxWarp prst="textNoShape">
              <a:avLst/>
            </a:prstTxWarp>
          </a:bodyPr>
          <a:lstStyle>
            <a:lvl1pPr>
              <a:defRPr sz="1300">
                <a:latin typeface="Calibri" pitchFamily="48" charset="0"/>
                <a:ea typeface="ＭＳ Ｐゴシック" pitchFamily="48" charset="-128"/>
                <a:cs typeface="ＭＳ Ｐゴシック" pitchFamily="48" charset="-128"/>
              </a:defRPr>
            </a:lvl1pPr>
          </a:lstStyle>
          <a:p>
            <a:pPr>
              <a:defRPr/>
            </a:pPr>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wrap="square" lIns="96661" tIns="48331" rIns="96661" bIns="48331" numCol="1" anchor="b" anchorCtr="0" compatLnSpc="1">
            <a:prstTxWarp prst="textNoShape">
              <a:avLst/>
            </a:prstTxWarp>
          </a:bodyPr>
          <a:lstStyle>
            <a:lvl1pPr algn="r">
              <a:defRPr sz="1300">
                <a:latin typeface="Calibri" pitchFamily="48" charset="0"/>
                <a:ea typeface="ＭＳ Ｐゴシック" pitchFamily="48" charset="-128"/>
              </a:defRPr>
            </a:lvl1pPr>
          </a:lstStyle>
          <a:p>
            <a:pPr>
              <a:defRPr/>
            </a:pPr>
            <a:fld id="{F824B1C7-47ED-4705-9392-C443AD40211D}" type="slidenum">
              <a:rPr lang="en-US"/>
              <a:pPr>
                <a:defRPr/>
              </a:pPr>
              <a:t>‹#›</a:t>
            </a:fld>
            <a:endParaRPr lang="en-US"/>
          </a:p>
        </p:txBody>
      </p:sp>
    </p:spTree>
    <p:extLst>
      <p:ext uri="{BB962C8B-B14F-4D97-AF65-F5344CB8AC3E}">
        <p14:creationId xmlns:p14="http://schemas.microsoft.com/office/powerpoint/2010/main" val="151608551"/>
      </p:ext>
    </p:extLst>
  </p:cSld>
  <p:clrMap bg1="lt1" tx1="dk1" bg2="lt2" tx2="dk2" accent1="accent1" accent2="accent2" accent3="accent3" accent4="accent4" accent5="accent5" accent6="accent6" hlink="hlink" folHlink="folHlink"/>
  <p:notesStyle>
    <a:lvl1pPr algn="l" defTabSz="2193925" rtl="0" eaLnBrk="0" fontAlgn="base" hangingPunct="0">
      <a:spcBef>
        <a:spcPct val="30000"/>
      </a:spcBef>
      <a:spcAft>
        <a:spcPct val="0"/>
      </a:spcAft>
      <a:defRPr sz="5800" kern="1200">
        <a:solidFill>
          <a:schemeClr val="tx1"/>
        </a:solidFill>
        <a:latin typeface="+mn-lt"/>
        <a:ea typeface="MS PGothic" pitchFamily="34" charset="-128"/>
        <a:cs typeface="ＭＳ Ｐゴシック" pitchFamily="-106" charset="-128"/>
      </a:defRPr>
    </a:lvl1pPr>
    <a:lvl2pPr marL="2193925" algn="l" defTabSz="2193925" rtl="0" eaLnBrk="0" fontAlgn="base" hangingPunct="0">
      <a:spcBef>
        <a:spcPct val="30000"/>
      </a:spcBef>
      <a:spcAft>
        <a:spcPct val="0"/>
      </a:spcAft>
      <a:defRPr sz="5800" kern="1200">
        <a:solidFill>
          <a:schemeClr val="tx1"/>
        </a:solidFill>
        <a:latin typeface="+mn-lt"/>
        <a:ea typeface="MS PGothic" pitchFamily="34" charset="-128"/>
        <a:cs typeface="+mn-cs"/>
      </a:defRPr>
    </a:lvl2pPr>
    <a:lvl3pPr marL="4387850" algn="l" defTabSz="2193925" rtl="0" eaLnBrk="0" fontAlgn="base" hangingPunct="0">
      <a:spcBef>
        <a:spcPct val="30000"/>
      </a:spcBef>
      <a:spcAft>
        <a:spcPct val="0"/>
      </a:spcAft>
      <a:defRPr sz="5800" kern="1200">
        <a:solidFill>
          <a:schemeClr val="tx1"/>
        </a:solidFill>
        <a:latin typeface="+mn-lt"/>
        <a:ea typeface="MS PGothic" pitchFamily="34" charset="-128"/>
        <a:cs typeface="+mn-cs"/>
      </a:defRPr>
    </a:lvl3pPr>
    <a:lvl4pPr marL="6583363" algn="l" defTabSz="2193925" rtl="0" eaLnBrk="0" fontAlgn="base" hangingPunct="0">
      <a:spcBef>
        <a:spcPct val="30000"/>
      </a:spcBef>
      <a:spcAft>
        <a:spcPct val="0"/>
      </a:spcAft>
      <a:defRPr sz="5800" kern="1200">
        <a:solidFill>
          <a:schemeClr val="tx1"/>
        </a:solidFill>
        <a:latin typeface="+mn-lt"/>
        <a:ea typeface="MS PGothic" pitchFamily="34" charset="-128"/>
        <a:cs typeface="+mn-cs"/>
      </a:defRPr>
    </a:lvl4pPr>
    <a:lvl5pPr marL="8777288" algn="l" defTabSz="2193925" rtl="0" eaLnBrk="0" fontAlgn="base" hangingPunct="0">
      <a:spcBef>
        <a:spcPct val="30000"/>
      </a:spcBef>
      <a:spcAft>
        <a:spcPct val="0"/>
      </a:spcAft>
      <a:defRPr sz="5800" kern="1200">
        <a:solidFill>
          <a:schemeClr val="tx1"/>
        </a:solidFill>
        <a:latin typeface="+mn-lt"/>
        <a:ea typeface="MS PGothic" pitchFamily="34" charset="-128"/>
        <a:cs typeface="+mn-cs"/>
      </a:defRPr>
    </a:lvl5pPr>
    <a:lvl6pPr marL="10972800" algn="l" defTabSz="2194560" rtl="0" eaLnBrk="1" latinLnBrk="0" hangingPunct="1">
      <a:defRPr sz="5800" kern="1200">
        <a:solidFill>
          <a:schemeClr val="tx1"/>
        </a:solidFill>
        <a:latin typeface="+mn-lt"/>
        <a:ea typeface="+mn-ea"/>
        <a:cs typeface="+mn-cs"/>
      </a:defRPr>
    </a:lvl6pPr>
    <a:lvl7pPr marL="13167360" algn="l" defTabSz="2194560" rtl="0" eaLnBrk="1" latinLnBrk="0" hangingPunct="1">
      <a:defRPr sz="5800" kern="1200">
        <a:solidFill>
          <a:schemeClr val="tx1"/>
        </a:solidFill>
        <a:latin typeface="+mn-lt"/>
        <a:ea typeface="+mn-ea"/>
        <a:cs typeface="+mn-cs"/>
      </a:defRPr>
    </a:lvl7pPr>
    <a:lvl8pPr marL="15361920" algn="l" defTabSz="2194560" rtl="0" eaLnBrk="1" latinLnBrk="0" hangingPunct="1">
      <a:defRPr sz="5800" kern="1200">
        <a:solidFill>
          <a:schemeClr val="tx1"/>
        </a:solidFill>
        <a:latin typeface="+mn-lt"/>
        <a:ea typeface="+mn-ea"/>
        <a:cs typeface="+mn-cs"/>
      </a:defRPr>
    </a:lvl8pPr>
    <a:lvl9pPr marL="17556480" algn="l" defTabSz="219456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13634723"/>
            <a:ext cx="27980640" cy="9408160"/>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4937760" y="24871680"/>
            <a:ext cx="23042880" cy="11216640"/>
          </a:xfrm>
          <a:prstGeom prst="rect">
            <a:avLst/>
          </a:prstGeo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16462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1BCEDB5D-7087-48C7-9189-DBB5C31F4072}" type="datetime1">
              <a:rPr lang="en-US"/>
              <a:pPr>
                <a:defRPr/>
              </a:pPr>
              <a:t>9/9/2026</a:t>
            </a:fld>
            <a:endParaRPr lang="en-US"/>
          </a:p>
        </p:txBody>
      </p:sp>
      <p:sp>
        <p:nvSpPr>
          <p:cNvPr id="5" name="Footer Placeholder 4"/>
          <p:cNvSpPr>
            <a:spLocks noGrp="1"/>
          </p:cNvSpPr>
          <p:nvPr>
            <p:ph type="ftr" sz="quarter" idx="11"/>
          </p:nvPr>
        </p:nvSpPr>
        <p:spPr>
          <a:xfrm>
            <a:off x="11247438" y="40212963"/>
            <a:ext cx="10425112" cy="2336800"/>
          </a:xfrm>
          <a:prstGeom prst="rect">
            <a:avLst/>
          </a:prstGeom>
        </p:spPr>
        <p:txBody>
          <a:bodyPr/>
          <a:lstStyle>
            <a:lvl1pPr>
              <a:defRPr>
                <a:latin typeface="Arial" pitchFamily="48" charset="0"/>
                <a:ea typeface="ＭＳ Ｐゴシック" pitchFamily="48" charset="-128"/>
                <a:cs typeface="ＭＳ Ｐゴシック" pitchFamily="48" charset="-128"/>
              </a:defRPr>
            </a:lvl1pPr>
          </a:lstStyle>
          <a:p>
            <a:pPr>
              <a:defRPr/>
            </a:pPr>
            <a:endParaRPr lang="en-US"/>
          </a:p>
        </p:txBody>
      </p:sp>
      <p:sp>
        <p:nvSpPr>
          <p:cNvPr id="6" name="Slide Number Placeholder 5"/>
          <p:cNvSpPr>
            <a:spLocks noGrp="1"/>
          </p:cNvSpPr>
          <p:nvPr>
            <p:ph type="sldNum" sz="quarter" idx="12"/>
          </p:nvPr>
        </p:nvSpPr>
        <p:spPr>
          <a:xfrm>
            <a:off x="235918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CDEA0710-AA8D-4BD1-ACD8-B522735C7BC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45444" y="1291167"/>
            <a:ext cx="29627513" cy="73152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645444" y="9774767"/>
            <a:ext cx="29627513" cy="2896446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462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28A88270-ADD1-4F31-9E58-D12DAA735F5A}" type="datetime1">
              <a:rPr lang="en-US"/>
              <a:pPr>
                <a:defRPr/>
              </a:pPr>
              <a:t>9/9/2026</a:t>
            </a:fld>
            <a:endParaRPr lang="en-US"/>
          </a:p>
        </p:txBody>
      </p:sp>
      <p:sp>
        <p:nvSpPr>
          <p:cNvPr id="5" name="Footer Placeholder 4"/>
          <p:cNvSpPr>
            <a:spLocks noGrp="1"/>
          </p:cNvSpPr>
          <p:nvPr>
            <p:ph type="ftr" sz="quarter" idx="11"/>
          </p:nvPr>
        </p:nvSpPr>
        <p:spPr>
          <a:xfrm>
            <a:off x="11247438" y="40212963"/>
            <a:ext cx="10425112" cy="2336800"/>
          </a:xfrm>
          <a:prstGeom prst="rect">
            <a:avLst/>
          </a:prstGeom>
        </p:spPr>
        <p:txBody>
          <a:bodyPr/>
          <a:lstStyle>
            <a:lvl1pPr>
              <a:defRPr>
                <a:latin typeface="Arial" pitchFamily="48" charset="0"/>
                <a:ea typeface="ＭＳ Ｐゴシック" pitchFamily="48" charset="-128"/>
                <a:cs typeface="ＭＳ Ｐゴシック" pitchFamily="48" charset="-128"/>
              </a:defRPr>
            </a:lvl1pPr>
          </a:lstStyle>
          <a:p>
            <a:pPr>
              <a:defRPr/>
            </a:pPr>
            <a:endParaRPr lang="en-US"/>
          </a:p>
        </p:txBody>
      </p:sp>
      <p:sp>
        <p:nvSpPr>
          <p:cNvPr id="6" name="Slide Number Placeholder 5"/>
          <p:cNvSpPr>
            <a:spLocks noGrp="1"/>
          </p:cNvSpPr>
          <p:nvPr>
            <p:ph type="sldNum" sz="quarter" idx="12"/>
          </p:nvPr>
        </p:nvSpPr>
        <p:spPr>
          <a:xfrm>
            <a:off x="235918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0123EB1E-DC15-4A9D-9886-284B610ADAD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6" y="28204163"/>
            <a:ext cx="27980640" cy="8717280"/>
          </a:xfrm>
          <a:prstGeom prst="rect">
            <a:avLst/>
          </a:prstGeo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2600326" y="18602967"/>
            <a:ext cx="27980640" cy="9601197"/>
          </a:xfrm>
          <a:prstGeom prst="rect">
            <a:avLst/>
          </a:prstGeo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6462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AE0536AB-14A6-4E4F-8C62-3DBDC48799E9}" type="datetime1">
              <a:rPr lang="en-US"/>
              <a:pPr>
                <a:defRPr/>
              </a:pPr>
              <a:t>9/9/2026</a:t>
            </a:fld>
            <a:endParaRPr lang="en-US"/>
          </a:p>
        </p:txBody>
      </p:sp>
      <p:sp>
        <p:nvSpPr>
          <p:cNvPr id="5" name="Footer Placeholder 4"/>
          <p:cNvSpPr>
            <a:spLocks noGrp="1"/>
          </p:cNvSpPr>
          <p:nvPr>
            <p:ph type="ftr" sz="quarter" idx="11"/>
          </p:nvPr>
        </p:nvSpPr>
        <p:spPr>
          <a:xfrm>
            <a:off x="11247438" y="40212963"/>
            <a:ext cx="10425112" cy="2336800"/>
          </a:xfrm>
          <a:prstGeom prst="rect">
            <a:avLst/>
          </a:prstGeom>
        </p:spPr>
        <p:txBody>
          <a:bodyPr/>
          <a:lstStyle>
            <a:lvl1pPr>
              <a:defRPr>
                <a:latin typeface="Arial" pitchFamily="48" charset="0"/>
                <a:ea typeface="ＭＳ Ｐゴシック" pitchFamily="48" charset="-128"/>
                <a:cs typeface="ＭＳ Ｐゴシック" pitchFamily="48" charset="-128"/>
              </a:defRPr>
            </a:lvl1pPr>
          </a:lstStyle>
          <a:p>
            <a:pPr>
              <a:defRPr/>
            </a:pPr>
            <a:endParaRPr lang="en-US"/>
          </a:p>
        </p:txBody>
      </p:sp>
      <p:sp>
        <p:nvSpPr>
          <p:cNvPr id="6" name="Slide Number Placeholder 5"/>
          <p:cNvSpPr>
            <a:spLocks noGrp="1"/>
          </p:cNvSpPr>
          <p:nvPr>
            <p:ph type="sldNum" sz="quarter" idx="12"/>
          </p:nvPr>
        </p:nvSpPr>
        <p:spPr>
          <a:xfrm>
            <a:off x="235918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8A6CB54B-AFB3-4FB0-9C4F-97746EC7EFF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45444" y="1291167"/>
            <a:ext cx="29627513" cy="73152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45920" y="10241284"/>
            <a:ext cx="14538960" cy="28966163"/>
          </a:xfrm>
          <a:prstGeom prst="rect">
            <a:avLst/>
          </a:prstGeo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733520" y="10241284"/>
            <a:ext cx="14538960" cy="28966163"/>
          </a:xfrm>
          <a:prstGeom prst="rect">
            <a:avLst/>
          </a:prstGeo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a:xfrm>
            <a:off x="16462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51277B42-0036-45A8-AB2B-2670D0D7DA33}" type="datetime1">
              <a:rPr lang="en-US"/>
              <a:pPr>
                <a:defRPr/>
              </a:pPr>
              <a:t>9/9/2026</a:t>
            </a:fld>
            <a:endParaRPr lang="en-US"/>
          </a:p>
        </p:txBody>
      </p:sp>
      <p:sp>
        <p:nvSpPr>
          <p:cNvPr id="6" name="Footer Placeholder 4"/>
          <p:cNvSpPr>
            <a:spLocks noGrp="1"/>
          </p:cNvSpPr>
          <p:nvPr>
            <p:ph type="ftr" sz="quarter" idx="11"/>
          </p:nvPr>
        </p:nvSpPr>
        <p:spPr>
          <a:xfrm>
            <a:off x="11247438" y="40212963"/>
            <a:ext cx="10425112" cy="2336800"/>
          </a:xfrm>
          <a:prstGeom prst="rect">
            <a:avLst/>
          </a:prstGeom>
        </p:spPr>
        <p:txBody>
          <a:bodyPr/>
          <a:lstStyle>
            <a:lvl1pPr>
              <a:defRPr>
                <a:latin typeface="Arial" pitchFamily="48" charset="0"/>
                <a:ea typeface="ＭＳ Ｐゴシック" pitchFamily="48" charset="-128"/>
                <a:cs typeface="ＭＳ Ｐゴシック" pitchFamily="48" charset="-128"/>
              </a:defRPr>
            </a:lvl1pPr>
          </a:lstStyle>
          <a:p>
            <a:pPr>
              <a:defRPr/>
            </a:pPr>
            <a:endParaRPr lang="en-US"/>
          </a:p>
        </p:txBody>
      </p:sp>
      <p:sp>
        <p:nvSpPr>
          <p:cNvPr id="7" name="Slide Number Placeholder 5"/>
          <p:cNvSpPr>
            <a:spLocks noGrp="1"/>
          </p:cNvSpPr>
          <p:nvPr>
            <p:ph type="sldNum" sz="quarter" idx="12"/>
          </p:nvPr>
        </p:nvSpPr>
        <p:spPr>
          <a:xfrm>
            <a:off x="235918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370EE20F-56A2-4F8B-A51B-71C64AE0F9A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5444" y="1291167"/>
            <a:ext cx="29627513" cy="73152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45920" y="9824723"/>
            <a:ext cx="14544677" cy="4094477"/>
          </a:xfrm>
          <a:prstGeom prst="rect">
            <a:avLst/>
          </a:prstGeo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4" name="Content Placeholder 3"/>
          <p:cNvSpPr>
            <a:spLocks noGrp="1"/>
          </p:cNvSpPr>
          <p:nvPr>
            <p:ph sz="half" idx="2"/>
          </p:nvPr>
        </p:nvSpPr>
        <p:spPr>
          <a:xfrm>
            <a:off x="1645920" y="13919200"/>
            <a:ext cx="14544677" cy="25288243"/>
          </a:xfrm>
          <a:prstGeom prst="rect">
            <a:avLst/>
          </a:prstGeo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092" y="9824723"/>
            <a:ext cx="14550390" cy="4094477"/>
          </a:xfrm>
          <a:prstGeom prst="rect">
            <a:avLst/>
          </a:prstGeo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6" name="Content Placeholder 5"/>
          <p:cNvSpPr>
            <a:spLocks noGrp="1"/>
          </p:cNvSpPr>
          <p:nvPr>
            <p:ph sz="quarter" idx="4"/>
          </p:nvPr>
        </p:nvSpPr>
        <p:spPr>
          <a:xfrm>
            <a:off x="16722092" y="13919200"/>
            <a:ext cx="14550390" cy="25288243"/>
          </a:xfrm>
          <a:prstGeom prst="rect">
            <a:avLst/>
          </a:prstGeo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16462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F095A42C-2F24-4841-B8C7-BCE46F2D6E43}" type="datetime1">
              <a:rPr lang="en-US"/>
              <a:pPr>
                <a:defRPr/>
              </a:pPr>
              <a:t>9/9/2026</a:t>
            </a:fld>
            <a:endParaRPr lang="en-US"/>
          </a:p>
        </p:txBody>
      </p:sp>
      <p:sp>
        <p:nvSpPr>
          <p:cNvPr id="8" name="Footer Placeholder 4"/>
          <p:cNvSpPr>
            <a:spLocks noGrp="1"/>
          </p:cNvSpPr>
          <p:nvPr>
            <p:ph type="ftr" sz="quarter" idx="11"/>
          </p:nvPr>
        </p:nvSpPr>
        <p:spPr>
          <a:xfrm>
            <a:off x="11247438" y="40212963"/>
            <a:ext cx="10425112" cy="2336800"/>
          </a:xfrm>
          <a:prstGeom prst="rect">
            <a:avLst/>
          </a:prstGeom>
        </p:spPr>
        <p:txBody>
          <a:bodyPr/>
          <a:lstStyle>
            <a:lvl1pPr>
              <a:defRPr>
                <a:latin typeface="Arial" pitchFamily="48" charset="0"/>
                <a:ea typeface="ＭＳ Ｐゴシック" pitchFamily="48" charset="-128"/>
                <a:cs typeface="ＭＳ Ｐゴシック" pitchFamily="48" charset="-128"/>
              </a:defRPr>
            </a:lvl1pPr>
          </a:lstStyle>
          <a:p>
            <a:pPr>
              <a:defRPr/>
            </a:pPr>
            <a:endParaRPr lang="en-US"/>
          </a:p>
        </p:txBody>
      </p:sp>
      <p:sp>
        <p:nvSpPr>
          <p:cNvPr id="9" name="Slide Number Placeholder 5"/>
          <p:cNvSpPr>
            <a:spLocks noGrp="1"/>
          </p:cNvSpPr>
          <p:nvPr>
            <p:ph type="sldNum" sz="quarter" idx="12"/>
          </p:nvPr>
        </p:nvSpPr>
        <p:spPr>
          <a:xfrm>
            <a:off x="235918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901F47ED-5536-4C8B-8BCB-BDEE2C183964}"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45444" y="1291167"/>
            <a:ext cx="29627513" cy="7315200"/>
          </a:xfrm>
          <a:prstGeom prst="rect">
            <a:avLst/>
          </a:prstGeom>
        </p:spPr>
        <p:txBody>
          <a:bodyPr/>
          <a:lstStyle/>
          <a:p>
            <a:r>
              <a:rPr lang="en-US"/>
              <a:t>Click to edit Master title style</a:t>
            </a:r>
          </a:p>
        </p:txBody>
      </p:sp>
      <p:sp>
        <p:nvSpPr>
          <p:cNvPr id="3" name="Date Placeholder 3"/>
          <p:cNvSpPr>
            <a:spLocks noGrp="1"/>
          </p:cNvSpPr>
          <p:nvPr>
            <p:ph type="dt" sz="half" idx="10"/>
          </p:nvPr>
        </p:nvSpPr>
        <p:spPr>
          <a:xfrm>
            <a:off x="16462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E848A67E-CA0A-409C-9B39-0CDC5E0DDD06}" type="datetime1">
              <a:rPr lang="en-US"/>
              <a:pPr>
                <a:defRPr/>
              </a:pPr>
              <a:t>9/9/2026</a:t>
            </a:fld>
            <a:endParaRPr lang="en-US"/>
          </a:p>
        </p:txBody>
      </p:sp>
      <p:sp>
        <p:nvSpPr>
          <p:cNvPr id="4" name="Footer Placeholder 4"/>
          <p:cNvSpPr>
            <a:spLocks noGrp="1"/>
          </p:cNvSpPr>
          <p:nvPr>
            <p:ph type="ftr" sz="quarter" idx="11"/>
          </p:nvPr>
        </p:nvSpPr>
        <p:spPr>
          <a:xfrm>
            <a:off x="11247438" y="40212963"/>
            <a:ext cx="10425112" cy="2336800"/>
          </a:xfrm>
          <a:prstGeom prst="rect">
            <a:avLst/>
          </a:prstGeom>
        </p:spPr>
        <p:txBody>
          <a:bodyPr/>
          <a:lstStyle>
            <a:lvl1pPr>
              <a:defRPr>
                <a:latin typeface="Arial" pitchFamily="48" charset="0"/>
                <a:ea typeface="ＭＳ Ｐゴシック" pitchFamily="48" charset="-128"/>
                <a:cs typeface="ＭＳ Ｐゴシック" pitchFamily="48" charset="-128"/>
              </a:defRPr>
            </a:lvl1pPr>
          </a:lstStyle>
          <a:p>
            <a:pPr>
              <a:defRPr/>
            </a:pPr>
            <a:endParaRPr lang="en-US"/>
          </a:p>
        </p:txBody>
      </p:sp>
      <p:sp>
        <p:nvSpPr>
          <p:cNvPr id="5" name="Slide Number Placeholder 5"/>
          <p:cNvSpPr>
            <a:spLocks noGrp="1"/>
          </p:cNvSpPr>
          <p:nvPr>
            <p:ph type="sldNum" sz="quarter" idx="12"/>
          </p:nvPr>
        </p:nvSpPr>
        <p:spPr>
          <a:xfrm>
            <a:off x="235918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5836F3BD-1887-4BD1-89CA-D2FD38DE6DCE}"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16462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549D4209-5826-4CF7-ACB6-CB5A6A2F1DBA}" type="datetime1">
              <a:rPr lang="en-US"/>
              <a:pPr>
                <a:defRPr/>
              </a:pPr>
              <a:t>9/9/2026</a:t>
            </a:fld>
            <a:endParaRPr lang="en-US"/>
          </a:p>
        </p:txBody>
      </p:sp>
      <p:sp>
        <p:nvSpPr>
          <p:cNvPr id="3" name="Footer Placeholder 4"/>
          <p:cNvSpPr>
            <a:spLocks noGrp="1"/>
          </p:cNvSpPr>
          <p:nvPr>
            <p:ph type="ftr" sz="quarter" idx="11"/>
          </p:nvPr>
        </p:nvSpPr>
        <p:spPr>
          <a:xfrm>
            <a:off x="11247438" y="40212963"/>
            <a:ext cx="10425112" cy="2336800"/>
          </a:xfrm>
          <a:prstGeom prst="rect">
            <a:avLst/>
          </a:prstGeom>
        </p:spPr>
        <p:txBody>
          <a:bodyPr/>
          <a:lstStyle>
            <a:lvl1pPr>
              <a:defRPr>
                <a:latin typeface="Arial" pitchFamily="48" charset="0"/>
                <a:ea typeface="ＭＳ Ｐゴシック" pitchFamily="48" charset="-128"/>
                <a:cs typeface="ＭＳ Ｐゴシック" pitchFamily="48" charset="-128"/>
              </a:defRPr>
            </a:lvl1pPr>
          </a:lstStyle>
          <a:p>
            <a:pPr>
              <a:defRPr/>
            </a:pPr>
            <a:endParaRPr lang="en-US"/>
          </a:p>
        </p:txBody>
      </p:sp>
      <p:sp>
        <p:nvSpPr>
          <p:cNvPr id="4" name="Slide Number Placeholder 5"/>
          <p:cNvSpPr>
            <a:spLocks noGrp="1"/>
          </p:cNvSpPr>
          <p:nvPr>
            <p:ph type="sldNum" sz="quarter" idx="12"/>
          </p:nvPr>
        </p:nvSpPr>
        <p:spPr>
          <a:xfrm>
            <a:off x="235918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8BB81ED2-19E3-4A85-B67A-100E93AD5A6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922" y="1747520"/>
            <a:ext cx="10829927" cy="7437120"/>
          </a:xfrm>
          <a:prstGeom prst="rect">
            <a:avLst/>
          </a:prstGeo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2870180" y="1747524"/>
            <a:ext cx="18402300" cy="37459923"/>
          </a:xfrm>
          <a:prstGeom prst="rect">
            <a:avLst/>
          </a:prstGeo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922" y="9184644"/>
            <a:ext cx="10829927" cy="30022803"/>
          </a:xfrm>
          <a:prstGeom prst="rect">
            <a:avLst/>
          </a:prstGeo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3"/>
          <p:cNvSpPr>
            <a:spLocks noGrp="1"/>
          </p:cNvSpPr>
          <p:nvPr>
            <p:ph type="dt" sz="half" idx="10"/>
          </p:nvPr>
        </p:nvSpPr>
        <p:spPr>
          <a:xfrm>
            <a:off x="16462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88C0BF79-1EB3-431D-BBAF-AA3315069997}" type="datetime1">
              <a:rPr lang="en-US"/>
              <a:pPr>
                <a:defRPr/>
              </a:pPr>
              <a:t>9/9/2026</a:t>
            </a:fld>
            <a:endParaRPr lang="en-US"/>
          </a:p>
        </p:txBody>
      </p:sp>
      <p:sp>
        <p:nvSpPr>
          <p:cNvPr id="6" name="Footer Placeholder 4"/>
          <p:cNvSpPr>
            <a:spLocks noGrp="1"/>
          </p:cNvSpPr>
          <p:nvPr>
            <p:ph type="ftr" sz="quarter" idx="11"/>
          </p:nvPr>
        </p:nvSpPr>
        <p:spPr>
          <a:xfrm>
            <a:off x="11247438" y="40212963"/>
            <a:ext cx="10425112" cy="2336800"/>
          </a:xfrm>
          <a:prstGeom prst="rect">
            <a:avLst/>
          </a:prstGeom>
        </p:spPr>
        <p:txBody>
          <a:bodyPr/>
          <a:lstStyle>
            <a:lvl1pPr>
              <a:defRPr>
                <a:latin typeface="Arial" pitchFamily="48" charset="0"/>
                <a:ea typeface="ＭＳ Ｐゴシック" pitchFamily="48" charset="-128"/>
                <a:cs typeface="ＭＳ Ｐゴシック" pitchFamily="48" charset="-128"/>
              </a:defRPr>
            </a:lvl1pPr>
          </a:lstStyle>
          <a:p>
            <a:pPr>
              <a:defRPr/>
            </a:pPr>
            <a:endParaRPr lang="en-US"/>
          </a:p>
        </p:txBody>
      </p:sp>
      <p:sp>
        <p:nvSpPr>
          <p:cNvPr id="7" name="Slide Number Placeholder 5"/>
          <p:cNvSpPr>
            <a:spLocks noGrp="1"/>
          </p:cNvSpPr>
          <p:nvPr>
            <p:ph type="sldNum" sz="quarter" idx="12"/>
          </p:nvPr>
        </p:nvSpPr>
        <p:spPr>
          <a:xfrm>
            <a:off x="235918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64865BE6-B6C4-4186-A3F6-4F776740542F}"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237" y="30723840"/>
            <a:ext cx="19751040" cy="3627123"/>
          </a:xfrm>
          <a:prstGeom prst="rect">
            <a:avLst/>
          </a:prstGeo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6452237" y="3921760"/>
            <a:ext cx="19751040" cy="26334720"/>
          </a:xfrm>
          <a:prstGeom prst="rect">
            <a:avLst/>
          </a:prstGeom>
        </p:spPr>
        <p:txBody>
          <a:bodyPr rtlCol="0">
            <a:normAutofit/>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pPr lvl="0"/>
            <a:endParaRPr lang="en-US" noProof="0"/>
          </a:p>
        </p:txBody>
      </p:sp>
      <p:sp>
        <p:nvSpPr>
          <p:cNvPr id="4" name="Text Placeholder 3"/>
          <p:cNvSpPr>
            <a:spLocks noGrp="1"/>
          </p:cNvSpPr>
          <p:nvPr>
            <p:ph type="body" sz="half" idx="2"/>
          </p:nvPr>
        </p:nvSpPr>
        <p:spPr>
          <a:xfrm>
            <a:off x="6452237" y="34350963"/>
            <a:ext cx="19751040" cy="5151117"/>
          </a:xfrm>
          <a:prstGeom prst="rect">
            <a:avLst/>
          </a:prstGeo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3"/>
          <p:cNvSpPr>
            <a:spLocks noGrp="1"/>
          </p:cNvSpPr>
          <p:nvPr>
            <p:ph type="dt" sz="half" idx="10"/>
          </p:nvPr>
        </p:nvSpPr>
        <p:spPr>
          <a:xfrm>
            <a:off x="16462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5D38EB24-2C05-48FD-926A-8970D49CC4F1}" type="datetime1">
              <a:rPr lang="en-US"/>
              <a:pPr>
                <a:defRPr/>
              </a:pPr>
              <a:t>9/9/2026</a:t>
            </a:fld>
            <a:endParaRPr lang="en-US"/>
          </a:p>
        </p:txBody>
      </p:sp>
      <p:sp>
        <p:nvSpPr>
          <p:cNvPr id="6" name="Footer Placeholder 4"/>
          <p:cNvSpPr>
            <a:spLocks noGrp="1"/>
          </p:cNvSpPr>
          <p:nvPr>
            <p:ph type="ftr" sz="quarter" idx="11"/>
          </p:nvPr>
        </p:nvSpPr>
        <p:spPr>
          <a:xfrm>
            <a:off x="11247438" y="40212963"/>
            <a:ext cx="10425112" cy="2336800"/>
          </a:xfrm>
          <a:prstGeom prst="rect">
            <a:avLst/>
          </a:prstGeom>
        </p:spPr>
        <p:txBody>
          <a:bodyPr/>
          <a:lstStyle>
            <a:lvl1pPr>
              <a:defRPr>
                <a:latin typeface="Arial" pitchFamily="48" charset="0"/>
                <a:ea typeface="ＭＳ Ｐゴシック" pitchFamily="48" charset="-128"/>
                <a:cs typeface="ＭＳ Ｐゴシック" pitchFamily="48" charset="-128"/>
              </a:defRPr>
            </a:lvl1pPr>
          </a:lstStyle>
          <a:p>
            <a:pPr>
              <a:defRPr/>
            </a:pPr>
            <a:endParaRPr lang="en-US"/>
          </a:p>
        </p:txBody>
      </p:sp>
      <p:sp>
        <p:nvSpPr>
          <p:cNvPr id="7" name="Slide Number Placeholder 5"/>
          <p:cNvSpPr>
            <a:spLocks noGrp="1"/>
          </p:cNvSpPr>
          <p:nvPr>
            <p:ph type="sldNum" sz="quarter" idx="12"/>
          </p:nvPr>
        </p:nvSpPr>
        <p:spPr>
          <a:xfrm>
            <a:off x="235918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A129EA24-F8E4-461D-BF74-F8344A66012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45444" y="1291167"/>
            <a:ext cx="29627513" cy="73152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45444" y="9774767"/>
            <a:ext cx="29627513" cy="2896446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462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5F904DD3-80B7-4DB7-9D83-7F1AA140757C}" type="datetime1">
              <a:rPr lang="en-US"/>
              <a:pPr>
                <a:defRPr/>
              </a:pPr>
              <a:t>9/9/2026</a:t>
            </a:fld>
            <a:endParaRPr lang="en-US"/>
          </a:p>
        </p:txBody>
      </p:sp>
      <p:sp>
        <p:nvSpPr>
          <p:cNvPr id="5" name="Footer Placeholder 4"/>
          <p:cNvSpPr>
            <a:spLocks noGrp="1"/>
          </p:cNvSpPr>
          <p:nvPr>
            <p:ph type="ftr" sz="quarter" idx="11"/>
          </p:nvPr>
        </p:nvSpPr>
        <p:spPr>
          <a:xfrm>
            <a:off x="11247438" y="40212963"/>
            <a:ext cx="10425112" cy="2336800"/>
          </a:xfrm>
          <a:prstGeom prst="rect">
            <a:avLst/>
          </a:prstGeom>
        </p:spPr>
        <p:txBody>
          <a:bodyPr/>
          <a:lstStyle>
            <a:lvl1pPr>
              <a:defRPr>
                <a:latin typeface="Arial" pitchFamily="48" charset="0"/>
                <a:ea typeface="ＭＳ Ｐゴシック" pitchFamily="48" charset="-128"/>
                <a:cs typeface="ＭＳ Ｐゴシック" pitchFamily="48" charset="-128"/>
              </a:defRPr>
            </a:lvl1pPr>
          </a:lstStyle>
          <a:p>
            <a:pPr>
              <a:defRPr/>
            </a:pPr>
            <a:endParaRPr lang="en-US"/>
          </a:p>
        </p:txBody>
      </p:sp>
      <p:sp>
        <p:nvSpPr>
          <p:cNvPr id="6" name="Slide Number Placeholder 5"/>
          <p:cNvSpPr>
            <a:spLocks noGrp="1"/>
          </p:cNvSpPr>
          <p:nvPr>
            <p:ph type="sldNum" sz="quarter" idx="12"/>
          </p:nvPr>
        </p:nvSpPr>
        <p:spPr>
          <a:xfrm>
            <a:off x="235918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00E55AB1-EA71-48CC-BC8E-5758501FE3EB}"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5840" y="1757687"/>
            <a:ext cx="7406640" cy="3744976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45920" y="1757687"/>
            <a:ext cx="21671280" cy="3744976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462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62B20BF3-0AA3-4C3A-8380-413A46A24EE9}" type="datetime1">
              <a:rPr lang="en-US"/>
              <a:pPr>
                <a:defRPr/>
              </a:pPr>
              <a:t>9/9/2026</a:t>
            </a:fld>
            <a:endParaRPr lang="en-US"/>
          </a:p>
        </p:txBody>
      </p:sp>
      <p:sp>
        <p:nvSpPr>
          <p:cNvPr id="5" name="Footer Placeholder 4"/>
          <p:cNvSpPr>
            <a:spLocks noGrp="1"/>
          </p:cNvSpPr>
          <p:nvPr>
            <p:ph type="ftr" sz="quarter" idx="11"/>
          </p:nvPr>
        </p:nvSpPr>
        <p:spPr>
          <a:xfrm>
            <a:off x="11247438" y="40212963"/>
            <a:ext cx="10425112" cy="2336800"/>
          </a:xfrm>
          <a:prstGeom prst="rect">
            <a:avLst/>
          </a:prstGeom>
        </p:spPr>
        <p:txBody>
          <a:bodyPr/>
          <a:lstStyle>
            <a:lvl1pPr>
              <a:defRPr>
                <a:latin typeface="Arial" pitchFamily="48" charset="0"/>
                <a:ea typeface="ＭＳ Ｐゴシック" pitchFamily="48" charset="-128"/>
                <a:cs typeface="ＭＳ Ｐゴシック" pitchFamily="48" charset="-128"/>
              </a:defRPr>
            </a:lvl1pPr>
          </a:lstStyle>
          <a:p>
            <a:pPr>
              <a:defRPr/>
            </a:pPr>
            <a:endParaRPr lang="en-US"/>
          </a:p>
        </p:txBody>
      </p:sp>
      <p:sp>
        <p:nvSpPr>
          <p:cNvPr id="6" name="Slide Number Placeholder 5"/>
          <p:cNvSpPr>
            <a:spLocks noGrp="1"/>
          </p:cNvSpPr>
          <p:nvPr>
            <p:ph type="sldNum" sz="quarter" idx="12"/>
          </p:nvPr>
        </p:nvSpPr>
        <p:spPr>
          <a:xfrm>
            <a:off x="23591838" y="40212963"/>
            <a:ext cx="7681912" cy="2336800"/>
          </a:xfrm>
          <a:prstGeom prst="rect">
            <a:avLst/>
          </a:prstGeom>
        </p:spPr>
        <p:txBody>
          <a:bodyPr vert="horz" wrap="square" lIns="91440" tIns="45720" rIns="91440" bIns="45720" numCol="1" anchor="t" anchorCtr="0" compatLnSpc="1">
            <a:prstTxWarp prst="textNoShape">
              <a:avLst/>
            </a:prstTxWarp>
          </a:bodyPr>
          <a:lstStyle>
            <a:lvl1pPr>
              <a:defRPr>
                <a:latin typeface="Arial" charset="0"/>
                <a:ea typeface="ＭＳ Ｐゴシック" pitchFamily="48" charset="-128"/>
              </a:defRPr>
            </a:lvl1pPr>
          </a:lstStyle>
          <a:p>
            <a:pPr>
              <a:defRPr/>
            </a:pPr>
            <a:fld id="{6E1019CE-FD2C-4AA4-8D76-D4094D764E8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Lst>
  <p:txStyles>
    <p:titleStyle>
      <a:lvl1pPr algn="ctr" defTabSz="2193925" rtl="0" eaLnBrk="0" fontAlgn="base" hangingPunct="0">
        <a:spcBef>
          <a:spcPct val="0"/>
        </a:spcBef>
        <a:spcAft>
          <a:spcPct val="0"/>
        </a:spcAft>
        <a:defRPr sz="21100" kern="1200">
          <a:solidFill>
            <a:schemeClr val="tx1"/>
          </a:solidFill>
          <a:latin typeface="+mj-lt"/>
          <a:ea typeface="MS PGothic" pitchFamily="34" charset="-128"/>
          <a:cs typeface="ＭＳ Ｐゴシック" pitchFamily="-106" charset="-128"/>
        </a:defRPr>
      </a:lvl1pPr>
      <a:lvl2pPr algn="ctr" defTabSz="2193925" rtl="0" eaLnBrk="0" fontAlgn="base" hangingPunct="0">
        <a:spcBef>
          <a:spcPct val="0"/>
        </a:spcBef>
        <a:spcAft>
          <a:spcPct val="0"/>
        </a:spcAft>
        <a:defRPr sz="21100">
          <a:solidFill>
            <a:schemeClr val="tx1"/>
          </a:solidFill>
          <a:latin typeface="Calibri" pitchFamily="-106" charset="0"/>
          <a:ea typeface="MS PGothic" pitchFamily="34" charset="-128"/>
          <a:cs typeface="ＭＳ Ｐゴシック" pitchFamily="-106" charset="-128"/>
        </a:defRPr>
      </a:lvl2pPr>
      <a:lvl3pPr algn="ctr" defTabSz="2193925" rtl="0" eaLnBrk="0" fontAlgn="base" hangingPunct="0">
        <a:spcBef>
          <a:spcPct val="0"/>
        </a:spcBef>
        <a:spcAft>
          <a:spcPct val="0"/>
        </a:spcAft>
        <a:defRPr sz="21100">
          <a:solidFill>
            <a:schemeClr val="tx1"/>
          </a:solidFill>
          <a:latin typeface="Calibri" pitchFamily="-106" charset="0"/>
          <a:ea typeface="MS PGothic" pitchFamily="34" charset="-128"/>
          <a:cs typeface="ＭＳ Ｐゴシック" pitchFamily="-106" charset="-128"/>
        </a:defRPr>
      </a:lvl3pPr>
      <a:lvl4pPr algn="ctr" defTabSz="2193925" rtl="0" eaLnBrk="0" fontAlgn="base" hangingPunct="0">
        <a:spcBef>
          <a:spcPct val="0"/>
        </a:spcBef>
        <a:spcAft>
          <a:spcPct val="0"/>
        </a:spcAft>
        <a:defRPr sz="21100">
          <a:solidFill>
            <a:schemeClr val="tx1"/>
          </a:solidFill>
          <a:latin typeface="Calibri" pitchFamily="-106" charset="0"/>
          <a:ea typeface="MS PGothic" pitchFamily="34" charset="-128"/>
          <a:cs typeface="ＭＳ Ｐゴシック" pitchFamily="-106" charset="-128"/>
        </a:defRPr>
      </a:lvl4pPr>
      <a:lvl5pPr algn="ctr" defTabSz="2193925" rtl="0" eaLnBrk="0" fontAlgn="base" hangingPunct="0">
        <a:spcBef>
          <a:spcPct val="0"/>
        </a:spcBef>
        <a:spcAft>
          <a:spcPct val="0"/>
        </a:spcAft>
        <a:defRPr sz="21100">
          <a:solidFill>
            <a:schemeClr val="tx1"/>
          </a:solidFill>
          <a:latin typeface="Calibri" pitchFamily="-106" charset="0"/>
          <a:ea typeface="MS PGothic" pitchFamily="34" charset="-128"/>
          <a:cs typeface="ＭＳ Ｐゴシック" pitchFamily="-106" charset="-128"/>
        </a:defRPr>
      </a:lvl5pPr>
      <a:lvl6pPr marL="457200" algn="ctr" defTabSz="2193925" rtl="0" fontAlgn="base">
        <a:spcBef>
          <a:spcPct val="0"/>
        </a:spcBef>
        <a:spcAft>
          <a:spcPct val="0"/>
        </a:spcAft>
        <a:defRPr sz="21100">
          <a:solidFill>
            <a:schemeClr val="tx1"/>
          </a:solidFill>
          <a:latin typeface="Calibri" pitchFamily="-106" charset="0"/>
          <a:ea typeface="ＭＳ Ｐゴシック" pitchFamily="-106" charset="-128"/>
          <a:cs typeface="ＭＳ Ｐゴシック" pitchFamily="-106" charset="-128"/>
        </a:defRPr>
      </a:lvl6pPr>
      <a:lvl7pPr marL="914400" algn="ctr" defTabSz="2193925" rtl="0" fontAlgn="base">
        <a:spcBef>
          <a:spcPct val="0"/>
        </a:spcBef>
        <a:spcAft>
          <a:spcPct val="0"/>
        </a:spcAft>
        <a:defRPr sz="21100">
          <a:solidFill>
            <a:schemeClr val="tx1"/>
          </a:solidFill>
          <a:latin typeface="Calibri" pitchFamily="-106" charset="0"/>
          <a:ea typeface="ＭＳ Ｐゴシック" pitchFamily="-106" charset="-128"/>
          <a:cs typeface="ＭＳ Ｐゴシック" pitchFamily="-106" charset="-128"/>
        </a:defRPr>
      </a:lvl7pPr>
      <a:lvl8pPr marL="1371600" algn="ctr" defTabSz="2193925" rtl="0" fontAlgn="base">
        <a:spcBef>
          <a:spcPct val="0"/>
        </a:spcBef>
        <a:spcAft>
          <a:spcPct val="0"/>
        </a:spcAft>
        <a:defRPr sz="21100">
          <a:solidFill>
            <a:schemeClr val="tx1"/>
          </a:solidFill>
          <a:latin typeface="Calibri" pitchFamily="-106" charset="0"/>
          <a:ea typeface="ＭＳ Ｐゴシック" pitchFamily="-106" charset="-128"/>
          <a:cs typeface="ＭＳ Ｐゴシック" pitchFamily="-106" charset="-128"/>
        </a:defRPr>
      </a:lvl8pPr>
      <a:lvl9pPr marL="1828800" algn="ctr" defTabSz="2193925" rtl="0" fontAlgn="base">
        <a:spcBef>
          <a:spcPct val="0"/>
        </a:spcBef>
        <a:spcAft>
          <a:spcPct val="0"/>
        </a:spcAft>
        <a:defRPr sz="21100">
          <a:solidFill>
            <a:schemeClr val="tx1"/>
          </a:solidFill>
          <a:latin typeface="Calibri" pitchFamily="-106" charset="0"/>
          <a:ea typeface="ＭＳ Ｐゴシック" pitchFamily="-106" charset="-128"/>
          <a:cs typeface="ＭＳ Ｐゴシック" pitchFamily="-106" charset="-128"/>
        </a:defRPr>
      </a:lvl9pPr>
    </p:titleStyle>
    <p:bodyStyle>
      <a:lvl1pPr marL="1644650" indent="-1644650" algn="l" defTabSz="2193925" rtl="0" eaLnBrk="0" fontAlgn="base" hangingPunct="0">
        <a:spcBef>
          <a:spcPct val="20000"/>
        </a:spcBef>
        <a:spcAft>
          <a:spcPct val="0"/>
        </a:spcAft>
        <a:buFont typeface="Arial" charset="0"/>
        <a:buChar char="•"/>
        <a:defRPr sz="15400" kern="1200">
          <a:solidFill>
            <a:schemeClr val="tx1"/>
          </a:solidFill>
          <a:latin typeface="+mn-lt"/>
          <a:ea typeface="MS PGothic" pitchFamily="34" charset="-128"/>
          <a:cs typeface="ＭＳ Ｐゴシック" pitchFamily="-106" charset="-128"/>
        </a:defRPr>
      </a:lvl1pPr>
      <a:lvl2pPr marL="3565525" indent="-1371600" algn="l" defTabSz="2193925" rtl="0" eaLnBrk="0" fontAlgn="base" hangingPunct="0">
        <a:spcBef>
          <a:spcPct val="20000"/>
        </a:spcBef>
        <a:spcAft>
          <a:spcPct val="0"/>
        </a:spcAft>
        <a:buFont typeface="Arial" charset="0"/>
        <a:buChar char="–"/>
        <a:defRPr sz="13400" kern="1200">
          <a:solidFill>
            <a:schemeClr val="tx1"/>
          </a:solidFill>
          <a:latin typeface="+mn-lt"/>
          <a:ea typeface="MS PGothic" pitchFamily="34" charset="-128"/>
          <a:cs typeface="+mn-cs"/>
        </a:defRPr>
      </a:lvl2pPr>
      <a:lvl3pPr marL="5486400" indent="-1096963" algn="l" defTabSz="2193925" rtl="0" eaLnBrk="0" fontAlgn="base" hangingPunct="0">
        <a:spcBef>
          <a:spcPct val="20000"/>
        </a:spcBef>
        <a:spcAft>
          <a:spcPct val="0"/>
        </a:spcAft>
        <a:buFont typeface="Arial" charset="0"/>
        <a:buChar char="•"/>
        <a:defRPr sz="11500" kern="1200">
          <a:solidFill>
            <a:schemeClr val="tx1"/>
          </a:solidFill>
          <a:latin typeface="+mn-lt"/>
          <a:ea typeface="MS PGothic" pitchFamily="34" charset="-128"/>
          <a:cs typeface="+mn-cs"/>
        </a:defRPr>
      </a:lvl3pPr>
      <a:lvl4pPr marL="7680325" indent="-1096963" algn="l" defTabSz="2193925" rtl="0" eaLnBrk="0" fontAlgn="base" hangingPunct="0">
        <a:spcBef>
          <a:spcPct val="20000"/>
        </a:spcBef>
        <a:spcAft>
          <a:spcPct val="0"/>
        </a:spcAft>
        <a:buFont typeface="Arial" charset="0"/>
        <a:buChar char="–"/>
        <a:defRPr sz="9600" kern="1200">
          <a:solidFill>
            <a:schemeClr val="tx1"/>
          </a:solidFill>
          <a:latin typeface="+mn-lt"/>
          <a:ea typeface="MS PGothic" pitchFamily="34" charset="-128"/>
          <a:cs typeface="+mn-cs"/>
        </a:defRPr>
      </a:lvl4pPr>
      <a:lvl5pPr marL="9874250" indent="-1096963" algn="l" defTabSz="2193925" rtl="0" eaLnBrk="0" fontAlgn="base" hangingPunct="0">
        <a:spcBef>
          <a:spcPct val="20000"/>
        </a:spcBef>
        <a:spcAft>
          <a:spcPct val="0"/>
        </a:spcAft>
        <a:buFont typeface="Arial" charset="0"/>
        <a:buChar char="»"/>
        <a:defRPr sz="9600" kern="1200">
          <a:solidFill>
            <a:schemeClr val="tx1"/>
          </a:solidFill>
          <a:latin typeface="+mn-lt"/>
          <a:ea typeface="MS PGothic" pitchFamily="34" charset="-128"/>
          <a:cs typeface="+mn-cs"/>
        </a:defRPr>
      </a:lvl5pPr>
      <a:lvl6pPr marL="12070080" indent="-1097280" algn="l" defTabSz="2194560" rtl="0" eaLnBrk="1" latinLnBrk="0" hangingPunct="1">
        <a:spcBef>
          <a:spcPct val="20000"/>
        </a:spcBef>
        <a:buFont typeface="Arial"/>
        <a:buChar char="•"/>
        <a:defRPr sz="9600" kern="1200">
          <a:solidFill>
            <a:schemeClr val="tx1"/>
          </a:solidFill>
          <a:latin typeface="+mn-lt"/>
          <a:ea typeface="+mn-ea"/>
          <a:cs typeface="+mn-cs"/>
        </a:defRPr>
      </a:lvl6pPr>
      <a:lvl7pPr marL="14264640" indent="-1097280" algn="l" defTabSz="2194560" rtl="0" eaLnBrk="1" latinLnBrk="0" hangingPunct="1">
        <a:spcBef>
          <a:spcPct val="20000"/>
        </a:spcBef>
        <a:buFont typeface="Arial"/>
        <a:buChar char="•"/>
        <a:defRPr sz="9600" kern="1200">
          <a:solidFill>
            <a:schemeClr val="tx1"/>
          </a:solidFill>
          <a:latin typeface="+mn-lt"/>
          <a:ea typeface="+mn-ea"/>
          <a:cs typeface="+mn-cs"/>
        </a:defRPr>
      </a:lvl7pPr>
      <a:lvl8pPr marL="16459200" indent="-1097280" algn="l" defTabSz="2194560" rtl="0" eaLnBrk="1" latinLnBrk="0" hangingPunct="1">
        <a:spcBef>
          <a:spcPct val="20000"/>
        </a:spcBef>
        <a:buFont typeface="Arial"/>
        <a:buChar char="•"/>
        <a:defRPr sz="9600" kern="1200">
          <a:solidFill>
            <a:schemeClr val="tx1"/>
          </a:solidFill>
          <a:latin typeface="+mn-lt"/>
          <a:ea typeface="+mn-ea"/>
          <a:cs typeface="+mn-cs"/>
        </a:defRPr>
      </a:lvl8pPr>
      <a:lvl9pPr marL="18653760" indent="-1097280" algn="l" defTabSz="2194560" rtl="0" eaLnBrk="1" latinLnBrk="0" hangingPunct="1">
        <a:spcBef>
          <a:spcPct val="20000"/>
        </a:spcBef>
        <a:buFont typeface="Arial"/>
        <a:buChar char="•"/>
        <a:defRPr sz="9600" kern="1200">
          <a:solidFill>
            <a:schemeClr val="tx1"/>
          </a:solidFill>
          <a:latin typeface="+mn-lt"/>
          <a:ea typeface="+mn-ea"/>
          <a:cs typeface="+mn-cs"/>
        </a:defRPr>
      </a:lvl9pPr>
    </p:bodyStyle>
    <p:other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32918400" cy="43891200"/>
          </a:xfrm>
          <a:prstGeom prst="rect">
            <a:avLst/>
          </a:prstGeom>
          <a:solidFill>
            <a:srgbClr val="F2F4F8"/>
          </a:solidFill>
          <a:ln w="0">
            <a:noFill/>
          </a:ln>
        </p:spPr>
        <p:txBody>
          <a:bodyPr/>
          <a:lstStyle/>
          <a:p>
            <a:endParaRPr lang="en-US"/>
          </a:p>
        </p:txBody>
      </p:sp>
      <p:sp>
        <p:nvSpPr>
          <p:cNvPr id="3" name="HeaderBand"/>
          <p:cNvSpPr/>
          <p:nvPr/>
        </p:nvSpPr>
        <p:spPr>
          <a:xfrm>
            <a:off x="0" y="0"/>
            <a:ext cx="32918400" cy="9144000"/>
          </a:xfrm>
          <a:prstGeom prst="rect">
            <a:avLst/>
          </a:prstGeom>
          <a:solidFill>
            <a:srgbClr val="1A2D5A"/>
          </a:solidFill>
          <a:ln w="0">
            <a:noFill/>
          </a:ln>
        </p:spPr>
        <p:txBody>
          <a:bodyPr/>
          <a:lstStyle/>
          <a:p>
            <a:endParaRPr lang="en-US"/>
          </a:p>
        </p:txBody>
      </p:sp>
      <p:sp>
        <p:nvSpPr>
          <p:cNvPr id="4" name="CyanStripe"/>
          <p:cNvSpPr/>
          <p:nvPr/>
        </p:nvSpPr>
        <p:spPr>
          <a:xfrm>
            <a:off x="0" y="9144000"/>
            <a:ext cx="32918400" cy="457200"/>
          </a:xfrm>
          <a:prstGeom prst="rect">
            <a:avLst/>
          </a:prstGeom>
          <a:solidFill>
            <a:srgbClr val="00AEEF"/>
          </a:solidFill>
          <a:ln w="0">
            <a:noFill/>
          </a:ln>
        </p:spPr>
        <p:txBody>
          <a:bodyPr/>
          <a:lstStyle/>
          <a:p>
            <a:endParaRPr lang="en-US"/>
          </a:p>
        </p:txBody>
      </p:sp>
      <p:sp>
        <p:nvSpPr>
          <p:cNvPr id="5" name="GoldLine"/>
          <p:cNvSpPr/>
          <p:nvPr/>
        </p:nvSpPr>
        <p:spPr>
          <a:xfrm>
            <a:off x="0" y="9601200"/>
            <a:ext cx="32918400" cy="228600"/>
          </a:xfrm>
          <a:prstGeom prst="rect">
            <a:avLst/>
          </a:prstGeom>
          <a:solidFill>
            <a:srgbClr val="C8A84B"/>
          </a:solidFill>
          <a:ln w="0">
            <a:noFill/>
          </a:ln>
        </p:spPr>
        <p:txBody>
          <a:bodyPr/>
          <a:lstStyle/>
          <a:p>
            <a:endParaRPr lang="en-US"/>
          </a:p>
        </p:txBody>
      </p:sp>
      <p:pic>
        <p:nvPicPr>
          <p:cNvPr id="10" name="LogoMilitary"/>
          <p:cNvPicPr>
            <a:picLocks noChangeAspect="1"/>
          </p:cNvPicPr>
          <p:nvPr/>
        </p:nvPicPr>
        <p:blipFill>
          <a:blip r:embed="rId2"/>
          <a:stretch>
            <a:fillRect/>
          </a:stretch>
        </p:blipFill>
        <p:spPr>
          <a:xfrm>
            <a:off x="457200" y="457200"/>
            <a:ext cx="5486400" cy="5486400"/>
          </a:xfrm>
          <a:prstGeom prst="rect">
            <a:avLst/>
          </a:prstGeom>
        </p:spPr>
      </p:pic>
      <p:pic>
        <p:nvPicPr>
          <p:cNvPr id="11" name="LogoDigilians"/>
          <p:cNvPicPr>
            <a:picLocks noChangeAspect="1"/>
          </p:cNvPicPr>
          <p:nvPr/>
        </p:nvPicPr>
        <p:blipFill>
          <a:blip r:embed="rId3"/>
          <a:stretch>
            <a:fillRect/>
          </a:stretch>
        </p:blipFill>
        <p:spPr>
          <a:xfrm>
            <a:off x="14478000" y="609600"/>
            <a:ext cx="3962400" cy="3962400"/>
          </a:xfrm>
          <a:prstGeom prst="rect">
            <a:avLst/>
          </a:prstGeom>
        </p:spPr>
      </p:pic>
      <p:pic>
        <p:nvPicPr>
          <p:cNvPr id="12" name="LogoMinistry"/>
          <p:cNvPicPr>
            <a:picLocks noChangeAspect="1"/>
          </p:cNvPicPr>
          <p:nvPr/>
        </p:nvPicPr>
        <p:blipFill>
          <a:blip r:embed="rId4"/>
          <a:stretch>
            <a:fillRect/>
          </a:stretch>
        </p:blipFill>
        <p:spPr>
          <a:xfrm>
            <a:off x="25908000" y="914400"/>
            <a:ext cx="6553200" cy="3657600"/>
          </a:xfrm>
          <a:prstGeom prst="rect">
            <a:avLst/>
          </a:prstGeom>
        </p:spPr>
      </p:pic>
      <p:sp>
        <p:nvSpPr>
          <p:cNvPr id="13" name="HeaderText"/>
          <p:cNvSpPr/>
          <p:nvPr/>
        </p:nvSpPr>
        <p:spPr>
          <a:xfrm>
            <a:off x="609600" y="5486400"/>
            <a:ext cx="31699200" cy="3657600"/>
          </a:xfrm>
          <a:prstGeom prst="rect">
            <a:avLst/>
          </a:prstGeom>
          <a:noFill/>
        </p:spPr>
        <p:txBody>
          <a:bodyPr wrap="square" lIns="182880" tIns="91440" rIns="182880" bIns="91440" rtlCol="0" anchor="ctr"/>
          <a:lstStyle/>
          <a:p>
            <a:pPr algn="ctr">
              <a:buNone/>
            </a:pPr>
            <a:r>
              <a:rPr lang="en-US" sz="5200" b="1" dirty="0">
                <a:solidFill>
                  <a:srgbClr val="FFFFFF"/>
                </a:solidFill>
                <a:latin typeface="Calibri"/>
              </a:rPr>
              <a:t>Digital Pioneers Initiative</a:t>
            </a:r>
          </a:p>
          <a:p>
            <a:pPr algn="ctr">
              <a:buNone/>
            </a:pPr>
            <a:r>
              <a:rPr lang="en-US" sz="3600" b="0" dirty="0">
                <a:solidFill>
                  <a:srgbClr val="00AEEF"/>
                </a:solidFill>
                <a:latin typeface="Calibri"/>
              </a:rPr>
              <a:t>DiGiLiANS — Nano Degree Program</a:t>
            </a:r>
          </a:p>
          <a:p>
            <a:pPr algn="ctr">
              <a:buNone/>
            </a:pPr>
            <a:r>
              <a:rPr lang="en-US" sz="2800" b="0" dirty="0">
                <a:solidFill>
                  <a:srgbClr val="C8A84B"/>
                </a:solidFill>
                <a:latin typeface="Calibri"/>
              </a:rPr>
              <a:t>Capstone Project Defense — </a:t>
            </a:r>
            <a:r>
              <a:rPr lang="en-US" sz="2800" dirty="0">
                <a:solidFill>
                  <a:srgbClr val="C8A84B"/>
                </a:solidFill>
                <a:latin typeface="Calibri"/>
              </a:rPr>
              <a:t>September</a:t>
            </a:r>
            <a:r>
              <a:rPr lang="en-US" sz="2800" b="0" dirty="0">
                <a:solidFill>
                  <a:srgbClr val="C8A84B"/>
                </a:solidFill>
                <a:latin typeface="Calibri"/>
              </a:rPr>
              <a:t> 2026</a:t>
            </a:r>
          </a:p>
        </p:txBody>
      </p:sp>
      <p:sp>
        <p:nvSpPr>
          <p:cNvPr id="20" name="TitleBand"/>
          <p:cNvSpPr/>
          <p:nvPr/>
        </p:nvSpPr>
        <p:spPr>
          <a:xfrm>
            <a:off x="0" y="9829800"/>
            <a:ext cx="32918400" cy="4114800"/>
          </a:xfrm>
          <a:prstGeom prst="rect">
            <a:avLst/>
          </a:prstGeom>
          <a:solidFill>
            <a:srgbClr val="1E5CA8"/>
          </a:solidFill>
          <a:ln w="0">
            <a:noFill/>
          </a:ln>
        </p:spPr>
        <p:txBody>
          <a:bodyPr/>
          <a:lstStyle/>
          <a:p>
            <a:endParaRPr lang="en-US"/>
          </a:p>
        </p:txBody>
      </p:sp>
      <p:sp>
        <p:nvSpPr>
          <p:cNvPr id="21" name="TitleAccent"/>
          <p:cNvSpPr/>
          <p:nvPr/>
        </p:nvSpPr>
        <p:spPr>
          <a:xfrm>
            <a:off x="0" y="9829800"/>
            <a:ext cx="457200" cy="4114800"/>
          </a:xfrm>
          <a:prstGeom prst="rect">
            <a:avLst/>
          </a:prstGeom>
          <a:solidFill>
            <a:srgbClr val="C8A84B"/>
          </a:solidFill>
          <a:ln w="0">
            <a:noFill/>
          </a:ln>
        </p:spPr>
        <p:txBody>
          <a:bodyPr/>
          <a:lstStyle/>
          <a:p>
            <a:endParaRPr lang="en-US"/>
          </a:p>
        </p:txBody>
      </p:sp>
      <p:sp>
        <p:nvSpPr>
          <p:cNvPr id="22" name="TitleText"/>
          <p:cNvSpPr/>
          <p:nvPr/>
        </p:nvSpPr>
        <p:spPr>
          <a:xfrm>
            <a:off x="914400" y="9829800"/>
            <a:ext cx="31546800" cy="4114800"/>
          </a:xfrm>
          <a:prstGeom prst="rect">
            <a:avLst/>
          </a:prstGeom>
          <a:noFill/>
        </p:spPr>
        <p:txBody>
          <a:bodyPr wrap="square" lIns="182880" tIns="91440" rIns="182880" bIns="91440" rtlCol="0" anchor="ctr"/>
          <a:lstStyle/>
          <a:p>
            <a:pPr algn="ctr">
              <a:buNone/>
            </a:pPr>
            <a:r>
              <a:rPr lang="en-US" sz="3600" b="1" i="1" dirty="0">
                <a:solidFill>
                  <a:srgbClr val="C8A84B"/>
                </a:solidFill>
                <a:latin typeface="Calibri"/>
              </a:rPr>
              <a:t>Capstone Project: </a:t>
            </a:r>
            <a:r>
              <a:rPr lang="en-US" sz="3600" b="1" i="1" dirty="0" err="1">
                <a:solidFill>
                  <a:srgbClr val="FFFFFF"/>
                </a:solidFill>
                <a:latin typeface="Calibri"/>
              </a:rPr>
              <a:t>SkillBridge</a:t>
            </a:r>
            <a:endParaRPr lang="en-US" sz="3600" b="1" i="1" dirty="0">
              <a:solidFill>
                <a:srgbClr val="FFFFFF"/>
              </a:solidFill>
              <a:latin typeface="Calibri"/>
            </a:endParaRPr>
          </a:p>
        </p:txBody>
      </p:sp>
      <p:sp>
        <p:nvSpPr>
          <p:cNvPr id="30" name="TeamBand"/>
          <p:cNvSpPr/>
          <p:nvPr/>
        </p:nvSpPr>
        <p:spPr>
          <a:xfrm>
            <a:off x="0" y="13972534"/>
            <a:ext cx="32918400" cy="3200400"/>
          </a:xfrm>
          <a:prstGeom prst="rect">
            <a:avLst/>
          </a:prstGeom>
          <a:solidFill>
            <a:srgbClr val="FFFFFF"/>
          </a:solidFill>
          <a:ln w="28575">
            <a:solidFill>
              <a:srgbClr val="1A2D5A"/>
            </a:solidFill>
          </a:ln>
        </p:spPr>
        <p:txBody>
          <a:bodyPr/>
          <a:lstStyle/>
          <a:p>
            <a:endParaRPr lang="en-US"/>
          </a:p>
        </p:txBody>
      </p:sp>
      <p:sp>
        <p:nvSpPr>
          <p:cNvPr id="31" name="M1"/>
          <p:cNvSpPr/>
          <p:nvPr/>
        </p:nvSpPr>
        <p:spPr>
          <a:xfrm>
            <a:off x="0" y="13944600"/>
            <a:ext cx="6583680" cy="3200400"/>
          </a:xfrm>
          <a:prstGeom prst="rect">
            <a:avLst/>
          </a:prstGeom>
          <a:noFill/>
        </p:spPr>
        <p:txBody>
          <a:bodyPr wrap="square" lIns="91440" tIns="91440" rIns="91440" bIns="91440" rtlCol="0" anchor="ctr"/>
          <a:lstStyle/>
          <a:p>
            <a:pPr algn="ctr">
              <a:buNone/>
            </a:pPr>
            <a:r>
              <a:rPr lang="en-US" sz="2800" b="1" dirty="0" err="1">
                <a:solidFill>
                  <a:srgbClr val="1A2D5A"/>
                </a:solidFill>
                <a:latin typeface="Calibri"/>
              </a:rPr>
              <a:t>Alaa</a:t>
            </a:r>
            <a:r>
              <a:rPr lang="en-US" sz="2800" b="1" dirty="0">
                <a:solidFill>
                  <a:srgbClr val="1A2D5A"/>
                </a:solidFill>
                <a:latin typeface="Calibri"/>
              </a:rPr>
              <a:t> </a:t>
            </a:r>
            <a:r>
              <a:rPr lang="en-US" sz="2800" b="1" dirty="0" err="1">
                <a:solidFill>
                  <a:srgbClr val="1A2D5A"/>
                </a:solidFill>
                <a:latin typeface="Calibri"/>
              </a:rPr>
              <a:t>Hussien</a:t>
            </a:r>
            <a:r>
              <a:rPr lang="en-US" sz="2800" b="1" dirty="0">
                <a:solidFill>
                  <a:srgbClr val="1A2D5A"/>
                </a:solidFill>
                <a:latin typeface="Calibri"/>
              </a:rPr>
              <a:t> Mohamed</a:t>
            </a:r>
          </a:p>
        </p:txBody>
      </p:sp>
      <p:sp>
        <p:nvSpPr>
          <p:cNvPr id="32" name="M2"/>
          <p:cNvSpPr/>
          <p:nvPr/>
        </p:nvSpPr>
        <p:spPr>
          <a:xfrm>
            <a:off x="8090913" y="13964465"/>
            <a:ext cx="6583680" cy="3200400"/>
          </a:xfrm>
          <a:prstGeom prst="rect">
            <a:avLst/>
          </a:prstGeom>
          <a:noFill/>
        </p:spPr>
        <p:txBody>
          <a:bodyPr wrap="square" lIns="91440" tIns="91440" rIns="91440" bIns="91440" rtlCol="0" anchor="ctr"/>
          <a:lstStyle/>
          <a:p>
            <a:pPr lvl="0" algn="ctr"/>
            <a:r>
              <a:rPr lang="en-US" sz="2800" b="1" dirty="0" err="1">
                <a:solidFill>
                  <a:srgbClr val="1A2D5A"/>
                </a:solidFill>
                <a:latin typeface="Calibri"/>
              </a:rPr>
              <a:t>Rasha</a:t>
            </a:r>
            <a:r>
              <a:rPr lang="en-US" sz="2800" b="1" dirty="0">
                <a:solidFill>
                  <a:srgbClr val="1A2D5A"/>
                </a:solidFill>
                <a:latin typeface="Calibri"/>
              </a:rPr>
              <a:t> Wael Ramadan</a:t>
            </a:r>
          </a:p>
        </p:txBody>
      </p:sp>
      <p:sp>
        <p:nvSpPr>
          <p:cNvPr id="33" name="M3"/>
          <p:cNvSpPr/>
          <p:nvPr/>
        </p:nvSpPr>
        <p:spPr>
          <a:xfrm>
            <a:off x="16999456" y="13923361"/>
            <a:ext cx="6583680" cy="3200400"/>
          </a:xfrm>
          <a:prstGeom prst="rect">
            <a:avLst/>
          </a:prstGeom>
          <a:noFill/>
        </p:spPr>
        <p:txBody>
          <a:bodyPr wrap="square" lIns="91440" tIns="91440" rIns="91440" bIns="91440" rtlCol="0" anchor="ctr"/>
          <a:lstStyle/>
          <a:p>
            <a:pPr algn="ctr">
              <a:buNone/>
            </a:pPr>
            <a:r>
              <a:rPr lang="en-US" sz="2800" b="1" dirty="0" err="1">
                <a:solidFill>
                  <a:srgbClr val="1A2D5A"/>
                </a:solidFill>
                <a:latin typeface="Calibri"/>
              </a:rPr>
              <a:t>Esraa</a:t>
            </a:r>
            <a:r>
              <a:rPr lang="en-US" sz="2800" b="1" dirty="0">
                <a:solidFill>
                  <a:srgbClr val="1A2D5A"/>
                </a:solidFill>
                <a:latin typeface="Calibri"/>
              </a:rPr>
              <a:t> </a:t>
            </a:r>
            <a:r>
              <a:rPr lang="en-US" sz="2800" b="1" dirty="0" err="1">
                <a:solidFill>
                  <a:srgbClr val="1A2D5A"/>
                </a:solidFill>
                <a:latin typeface="Calibri"/>
              </a:rPr>
              <a:t>Metwally</a:t>
            </a:r>
            <a:r>
              <a:rPr lang="en-US" sz="2800" b="1" dirty="0">
                <a:solidFill>
                  <a:srgbClr val="1A2D5A"/>
                </a:solidFill>
                <a:latin typeface="Calibri"/>
              </a:rPr>
              <a:t> Abo </a:t>
            </a:r>
            <a:r>
              <a:rPr lang="en-US" sz="2800" b="1" dirty="0" err="1">
                <a:solidFill>
                  <a:srgbClr val="1A2D5A"/>
                </a:solidFill>
                <a:latin typeface="Calibri"/>
              </a:rPr>
              <a:t>Elnasr</a:t>
            </a:r>
            <a:endParaRPr lang="en-US" sz="2800" b="1" dirty="0">
              <a:solidFill>
                <a:srgbClr val="1A2D5A"/>
              </a:solidFill>
              <a:latin typeface="Calibri"/>
            </a:endParaRPr>
          </a:p>
        </p:txBody>
      </p:sp>
      <p:sp>
        <p:nvSpPr>
          <p:cNvPr id="34" name="M4"/>
          <p:cNvSpPr/>
          <p:nvPr/>
        </p:nvSpPr>
        <p:spPr>
          <a:xfrm>
            <a:off x="25908000" y="13916666"/>
            <a:ext cx="6583680" cy="3200400"/>
          </a:xfrm>
          <a:prstGeom prst="rect">
            <a:avLst/>
          </a:prstGeom>
          <a:noFill/>
        </p:spPr>
        <p:txBody>
          <a:bodyPr wrap="square" lIns="91440" tIns="91440" rIns="91440" bIns="91440" rtlCol="0" anchor="ctr"/>
          <a:lstStyle/>
          <a:p>
            <a:pPr algn="ctr">
              <a:buNone/>
            </a:pPr>
            <a:r>
              <a:rPr lang="en-US" sz="2800" b="1" dirty="0">
                <a:solidFill>
                  <a:srgbClr val="1A2D5A"/>
                </a:solidFill>
                <a:latin typeface="Calibri"/>
              </a:rPr>
              <a:t>Fatma Ibrahim </a:t>
            </a:r>
            <a:r>
              <a:rPr lang="en-US" sz="2800" b="1" dirty="0" err="1">
                <a:solidFill>
                  <a:srgbClr val="1A2D5A"/>
                </a:solidFill>
                <a:latin typeface="Calibri"/>
              </a:rPr>
              <a:t>Morsy</a:t>
            </a:r>
            <a:endParaRPr lang="en-US" sz="2800" b="1" dirty="0">
              <a:solidFill>
                <a:srgbClr val="1A2D5A"/>
              </a:solidFill>
              <a:latin typeface="Calibri"/>
            </a:endParaRPr>
          </a:p>
        </p:txBody>
      </p:sp>
      <p:sp>
        <p:nvSpPr>
          <p:cNvPr id="35" name="M5"/>
          <p:cNvSpPr/>
          <p:nvPr/>
        </p:nvSpPr>
        <p:spPr>
          <a:xfrm>
            <a:off x="26334720" y="13944600"/>
            <a:ext cx="6583680" cy="3200400"/>
          </a:xfrm>
          <a:prstGeom prst="rect">
            <a:avLst/>
          </a:prstGeom>
          <a:noFill/>
        </p:spPr>
        <p:txBody>
          <a:bodyPr wrap="square" lIns="91440" tIns="91440" rIns="91440" bIns="91440" rtlCol="0" anchor="ctr"/>
          <a:lstStyle/>
          <a:p>
            <a:pPr algn="ctr">
              <a:buNone/>
            </a:pPr>
            <a:endParaRPr lang="en-US" sz="2000" b="1" dirty="0">
              <a:solidFill>
                <a:srgbClr val="1A2D5A"/>
              </a:solidFill>
              <a:latin typeface="Calibri"/>
            </a:endParaRPr>
          </a:p>
        </p:txBody>
      </p:sp>
      <p:sp>
        <p:nvSpPr>
          <p:cNvPr id="40" name="SupBar"/>
          <p:cNvSpPr/>
          <p:nvPr/>
        </p:nvSpPr>
        <p:spPr>
          <a:xfrm>
            <a:off x="5680" y="17145000"/>
            <a:ext cx="32918400" cy="2286000"/>
          </a:xfrm>
          <a:prstGeom prst="rect">
            <a:avLst/>
          </a:prstGeom>
          <a:solidFill>
            <a:srgbClr val="1A2D5A"/>
          </a:solidFill>
          <a:ln w="0">
            <a:noFill/>
          </a:ln>
        </p:spPr>
        <p:txBody>
          <a:bodyPr/>
          <a:lstStyle/>
          <a:p>
            <a:endParaRPr lang="en-US" dirty="0"/>
          </a:p>
        </p:txBody>
      </p:sp>
      <p:sp>
        <p:nvSpPr>
          <p:cNvPr id="41" name="SupL"/>
          <p:cNvSpPr/>
          <p:nvPr/>
        </p:nvSpPr>
        <p:spPr>
          <a:xfrm>
            <a:off x="609600" y="17145000"/>
            <a:ext cx="15545400" cy="2286000"/>
          </a:xfrm>
          <a:prstGeom prst="rect">
            <a:avLst/>
          </a:prstGeom>
          <a:noFill/>
        </p:spPr>
        <p:txBody>
          <a:bodyPr wrap="square" lIns="182880" tIns="91440" rIns="91440" bIns="91440" rtlCol="0" anchor="ctr"/>
          <a:lstStyle/>
          <a:p>
            <a:r>
              <a:rPr lang="en-US" sz="3200" b="1" dirty="0">
                <a:solidFill>
                  <a:srgbClr val="00AEEF"/>
                </a:solidFill>
                <a:latin typeface="Calibri"/>
              </a:rPr>
              <a:t>Supervisor : </a:t>
            </a:r>
            <a:r>
              <a:rPr lang="en-US" sz="3200" dirty="0">
                <a:solidFill>
                  <a:srgbClr val="FFFFFF"/>
                </a:solidFill>
                <a:latin typeface="Calibri"/>
              </a:rPr>
              <a:t> Prof. Dr. Rania </a:t>
            </a:r>
            <a:r>
              <a:rPr lang="en-US" sz="3200" dirty="0" err="1">
                <a:solidFill>
                  <a:srgbClr val="FFFFFF"/>
                </a:solidFill>
                <a:latin typeface="Calibri"/>
              </a:rPr>
              <a:t>Elgohary</a:t>
            </a:r>
            <a:endParaRPr lang="en-US" sz="3200" dirty="0">
              <a:solidFill>
                <a:srgbClr val="FFFFFF"/>
              </a:solidFill>
              <a:latin typeface="Calibri"/>
            </a:endParaRPr>
          </a:p>
          <a:p>
            <a:r>
              <a:rPr lang="en-US" sz="3200" b="1" dirty="0">
                <a:solidFill>
                  <a:srgbClr val="00AEEF"/>
                </a:solidFill>
                <a:latin typeface="Calibri"/>
              </a:rPr>
              <a:t>Track Head: </a:t>
            </a:r>
            <a:r>
              <a:rPr lang="en-US" sz="3200" dirty="0">
                <a:solidFill>
                  <a:srgbClr val="FFFFFF"/>
                </a:solidFill>
                <a:latin typeface="Calibri"/>
              </a:rPr>
              <a:t>Dr. Ahmed Zakaria</a:t>
            </a:r>
          </a:p>
          <a:p>
            <a:r>
              <a:rPr lang="en-US" sz="3200" b="1" dirty="0">
                <a:solidFill>
                  <a:srgbClr val="00AEEF"/>
                </a:solidFill>
                <a:latin typeface="Calibri"/>
              </a:rPr>
              <a:t>Academic Team: </a:t>
            </a:r>
            <a:r>
              <a:rPr lang="en-US" sz="3200" dirty="0">
                <a:solidFill>
                  <a:srgbClr val="FFFFFF"/>
                </a:solidFill>
                <a:latin typeface="Calibri"/>
              </a:rPr>
              <a:t> Dr. Yasser Ali </a:t>
            </a:r>
          </a:p>
          <a:p>
            <a:r>
              <a:rPr lang="en-US" sz="3200" b="1" dirty="0">
                <a:solidFill>
                  <a:srgbClr val="00AEEF"/>
                </a:solidFill>
                <a:latin typeface="Calibri"/>
              </a:rPr>
              <a:t>Instructor / Company Name: </a:t>
            </a:r>
            <a:r>
              <a:rPr lang="en-US" sz="3200" dirty="0" err="1">
                <a:solidFill>
                  <a:srgbClr val="FFFFFF"/>
                </a:solidFill>
                <a:latin typeface="Calibri"/>
              </a:rPr>
              <a:t>Eng.Haidy</a:t>
            </a:r>
            <a:r>
              <a:rPr lang="en-US" sz="3200" dirty="0">
                <a:solidFill>
                  <a:srgbClr val="FFFFFF"/>
                </a:solidFill>
                <a:latin typeface="Calibri"/>
              </a:rPr>
              <a:t> </a:t>
            </a:r>
            <a:r>
              <a:rPr lang="en-US" sz="3200" dirty="0" err="1">
                <a:solidFill>
                  <a:srgbClr val="FFFFFF"/>
                </a:solidFill>
                <a:latin typeface="Calibri"/>
              </a:rPr>
              <a:t>Seada</a:t>
            </a:r>
            <a:r>
              <a:rPr lang="en-US" sz="3200" dirty="0">
                <a:solidFill>
                  <a:srgbClr val="FFFFFF"/>
                </a:solidFill>
                <a:latin typeface="Calibri"/>
              </a:rPr>
              <a:t> / EYTH</a:t>
            </a:r>
          </a:p>
        </p:txBody>
      </p:sp>
      <p:sp>
        <p:nvSpPr>
          <p:cNvPr id="42" name="TrackR"/>
          <p:cNvSpPr/>
          <p:nvPr/>
        </p:nvSpPr>
        <p:spPr>
          <a:xfrm>
            <a:off x="16763400" y="17145000"/>
            <a:ext cx="15545400" cy="2286000"/>
          </a:xfrm>
          <a:prstGeom prst="rect">
            <a:avLst/>
          </a:prstGeom>
          <a:noFill/>
        </p:spPr>
        <p:txBody>
          <a:bodyPr wrap="square" lIns="91440" tIns="91440" rIns="182880" bIns="91440" rtlCol="0" anchor="ctr"/>
          <a:lstStyle/>
          <a:p>
            <a:pPr algn="r">
              <a:buNone/>
            </a:pPr>
            <a:r>
              <a:rPr lang="en-US" sz="2500" b="1" dirty="0">
                <a:solidFill>
                  <a:srgbClr val="C8A84B"/>
                </a:solidFill>
                <a:latin typeface="Calibri"/>
              </a:rPr>
              <a:t>Track: </a:t>
            </a:r>
            <a:r>
              <a:rPr lang="en-US" sz="2500" b="0" dirty="0">
                <a:solidFill>
                  <a:srgbClr val="FFFFFF"/>
                </a:solidFill>
                <a:latin typeface="Calibri"/>
              </a:rPr>
              <a:t>Data Analytics Track / Junior Data Analyst</a:t>
            </a:r>
          </a:p>
        </p:txBody>
      </p:sp>
      <p:sp>
        <p:nvSpPr>
          <p:cNvPr id="50" name="AbsHdr"/>
          <p:cNvSpPr/>
          <p:nvPr/>
        </p:nvSpPr>
        <p:spPr>
          <a:xfrm>
            <a:off x="609600" y="19888200"/>
            <a:ext cx="10160000" cy="1600200"/>
          </a:xfrm>
          <a:prstGeom prst="rect">
            <a:avLst/>
          </a:prstGeom>
          <a:solidFill>
            <a:srgbClr val="1A2D5A"/>
          </a:solidFill>
          <a:ln w="0">
            <a:noFill/>
          </a:ln>
        </p:spPr>
        <p:txBody>
          <a:bodyPr/>
          <a:lstStyle/>
          <a:p>
            <a:endParaRPr lang="en-US"/>
          </a:p>
        </p:txBody>
      </p:sp>
      <p:sp>
        <p:nvSpPr>
          <p:cNvPr id="51" name="AbsHdrTxt"/>
          <p:cNvSpPr/>
          <p:nvPr/>
        </p:nvSpPr>
        <p:spPr>
          <a:xfrm>
            <a:off x="914400" y="19888200"/>
            <a:ext cx="9855200" cy="1600200"/>
          </a:xfrm>
          <a:prstGeom prst="rect">
            <a:avLst/>
          </a:prstGeom>
          <a:noFill/>
        </p:spPr>
        <p:txBody>
          <a:bodyPr wrap="square" lIns="182880" tIns="91440" rIns="91440" bIns="91440" rtlCol="0" anchor="ctr"/>
          <a:lstStyle/>
          <a:p>
            <a:pPr algn="l">
              <a:buNone/>
            </a:pPr>
            <a:r>
              <a:rPr lang="en-US" sz="2800" b="1" dirty="0">
                <a:solidFill>
                  <a:srgbClr val="00AEEF"/>
                </a:solidFill>
                <a:latin typeface="Calibri"/>
              </a:rPr>
              <a:t>ABSTRACT</a:t>
            </a:r>
          </a:p>
        </p:txBody>
      </p:sp>
      <p:sp>
        <p:nvSpPr>
          <p:cNvPr id="52" name="AbsBody"/>
          <p:cNvSpPr/>
          <p:nvPr/>
        </p:nvSpPr>
        <p:spPr>
          <a:xfrm>
            <a:off x="609600" y="21488400"/>
            <a:ext cx="10160000" cy="7239600"/>
          </a:xfrm>
          <a:prstGeom prst="rect">
            <a:avLst/>
          </a:prstGeom>
          <a:solidFill>
            <a:srgbClr val="FFFFFF"/>
          </a:solidFill>
          <a:ln w="12700">
            <a:solidFill>
              <a:srgbClr val="B0BEC5"/>
            </a:solidFill>
          </a:ln>
        </p:spPr>
        <p:txBody>
          <a:bodyPr/>
          <a:lstStyle/>
          <a:p>
            <a:endParaRPr lang="en-US" dirty="0"/>
          </a:p>
        </p:txBody>
      </p:sp>
      <p:sp>
        <p:nvSpPr>
          <p:cNvPr id="53" name="AbsBodyTxt"/>
          <p:cNvSpPr/>
          <p:nvPr/>
        </p:nvSpPr>
        <p:spPr>
          <a:xfrm>
            <a:off x="630578" y="21640800"/>
            <a:ext cx="9551200" cy="6934800"/>
          </a:xfrm>
          <a:prstGeom prst="rect">
            <a:avLst/>
          </a:prstGeom>
          <a:noFill/>
        </p:spPr>
        <p:txBody>
          <a:bodyPr wrap="square" lIns="182880" tIns="91440" rIns="182880" bIns="91440" rtlCol="0" anchor="t"/>
          <a:lstStyle/>
          <a:p>
            <a:pPr marL="342900" indent="-342900">
              <a:buFont typeface="Arial" panose="020B0604020202020204" pitchFamily="34" charset="0"/>
              <a:buChar char="•"/>
            </a:pPr>
            <a:r>
              <a:rPr lang="en-US" sz="2000" dirty="0">
                <a:solidFill>
                  <a:srgbClr val="37474F"/>
                </a:solidFill>
                <a:latin typeface="Calibri"/>
              </a:rPr>
              <a:t>We sincerely thank our Executive Director, Academic Director, Track Head, Academic Team, the Ministry of Communications and Information Technology (MCIT), Egypt, and the Egyptian Military Academy for their invaluable guidance, support, and dedication throughout our learning journey and the successful completion of this project.</a:t>
            </a:r>
          </a:p>
          <a:p>
            <a:endParaRPr lang="en-US" sz="2000" dirty="0">
              <a:solidFill>
                <a:srgbClr val="37474F"/>
              </a:solidFill>
              <a:latin typeface="Calibri"/>
            </a:endParaRPr>
          </a:p>
          <a:p>
            <a:pPr marL="342900" indent="-342900">
              <a:buFont typeface="Arial" panose="020B0604020202020204" pitchFamily="34" charset="0"/>
              <a:buChar char="•"/>
            </a:pPr>
            <a:r>
              <a:rPr lang="en-US" sz="2000" dirty="0">
                <a:solidFill>
                  <a:srgbClr val="37474F"/>
                </a:solidFill>
                <a:latin typeface="Calibri"/>
              </a:rPr>
              <a:t>This project presents a data-driven analytical framework to evaluate the global and Egyptian freelance market (Gig Economy). By establishing an integrated Star-Schema pipeline using Python and Power BI, we measure skill demand-supply gaps, identify high-value skills ($/</a:t>
            </a:r>
            <a:r>
              <a:rPr lang="en-US" sz="2000" dirty="0" err="1">
                <a:solidFill>
                  <a:srgbClr val="37474F"/>
                </a:solidFill>
                <a:latin typeface="Calibri"/>
              </a:rPr>
              <a:t>hr</a:t>
            </a:r>
            <a:r>
              <a:rPr lang="en-US" sz="2000" dirty="0">
                <a:solidFill>
                  <a:srgbClr val="37474F"/>
                </a:solidFill>
                <a:latin typeface="Calibri"/>
              </a:rPr>
              <a:t>), and quantify the impact of early K-12 educational coding initiatives on job acceptance and graduate earning potential. </a:t>
            </a:r>
          </a:p>
          <a:p>
            <a:endParaRPr lang="en-US" sz="2000" dirty="0">
              <a:solidFill>
                <a:srgbClr val="37474F"/>
              </a:solidFill>
              <a:latin typeface="Calibri"/>
            </a:endParaRPr>
          </a:p>
        </p:txBody>
      </p:sp>
      <p:sp>
        <p:nvSpPr>
          <p:cNvPr id="60" name="BgHdr"/>
          <p:cNvSpPr/>
          <p:nvPr/>
        </p:nvSpPr>
        <p:spPr>
          <a:xfrm>
            <a:off x="609600" y="29185200"/>
            <a:ext cx="10160000" cy="1600200"/>
          </a:xfrm>
          <a:prstGeom prst="rect">
            <a:avLst/>
          </a:prstGeom>
          <a:solidFill>
            <a:srgbClr val="1A2D5A"/>
          </a:solidFill>
          <a:ln w="0">
            <a:noFill/>
          </a:ln>
        </p:spPr>
        <p:txBody>
          <a:bodyPr/>
          <a:lstStyle/>
          <a:p>
            <a:endParaRPr lang="en-US"/>
          </a:p>
        </p:txBody>
      </p:sp>
      <p:sp>
        <p:nvSpPr>
          <p:cNvPr id="61" name="BgHdrTxt"/>
          <p:cNvSpPr/>
          <p:nvPr/>
        </p:nvSpPr>
        <p:spPr>
          <a:xfrm>
            <a:off x="914400" y="29185200"/>
            <a:ext cx="9855200" cy="1600200"/>
          </a:xfrm>
          <a:prstGeom prst="rect">
            <a:avLst/>
          </a:prstGeom>
          <a:noFill/>
        </p:spPr>
        <p:txBody>
          <a:bodyPr wrap="square" lIns="182880" tIns="91440" rIns="91440" bIns="91440" rtlCol="0" anchor="ctr"/>
          <a:lstStyle/>
          <a:p>
            <a:pPr algn="l">
              <a:buNone/>
            </a:pPr>
            <a:r>
              <a:rPr lang="en-US" sz="2800" b="1" dirty="0">
                <a:solidFill>
                  <a:srgbClr val="00AEEF"/>
                </a:solidFill>
                <a:latin typeface="Calibri"/>
              </a:rPr>
              <a:t>Background &amp; Introduction</a:t>
            </a:r>
          </a:p>
        </p:txBody>
      </p:sp>
      <p:sp>
        <p:nvSpPr>
          <p:cNvPr id="62" name="BgBody"/>
          <p:cNvSpPr/>
          <p:nvPr/>
        </p:nvSpPr>
        <p:spPr>
          <a:xfrm>
            <a:off x="609600" y="30785400"/>
            <a:ext cx="10160000" cy="6553200"/>
          </a:xfrm>
          <a:prstGeom prst="rect">
            <a:avLst/>
          </a:prstGeom>
          <a:solidFill>
            <a:srgbClr val="FFFFFF"/>
          </a:solidFill>
          <a:ln w="12700">
            <a:solidFill>
              <a:srgbClr val="B0BEC5"/>
            </a:solidFill>
          </a:ln>
        </p:spPr>
        <p:txBody>
          <a:bodyPr/>
          <a:lstStyle/>
          <a:p>
            <a:endParaRPr lang="en-US"/>
          </a:p>
        </p:txBody>
      </p:sp>
      <p:sp>
        <p:nvSpPr>
          <p:cNvPr id="63" name="BgBodyTxt"/>
          <p:cNvSpPr/>
          <p:nvPr/>
        </p:nvSpPr>
        <p:spPr>
          <a:xfrm>
            <a:off x="630578" y="30972369"/>
            <a:ext cx="9551200" cy="6248400"/>
          </a:xfrm>
          <a:prstGeom prst="rect">
            <a:avLst/>
          </a:prstGeom>
          <a:noFill/>
        </p:spPr>
        <p:txBody>
          <a:bodyPr wrap="square" lIns="182880" tIns="91440" rIns="182880" bIns="91440" rtlCol="0" anchor="t"/>
          <a:lstStyle/>
          <a:p>
            <a:pPr marL="342900" indent="-342900">
              <a:buFont typeface="Arial" panose="020B0604020202020204" pitchFamily="34" charset="0"/>
              <a:buChar char="•"/>
            </a:pPr>
            <a:r>
              <a:rPr lang="en-US" sz="2000" dirty="0">
                <a:solidFill>
                  <a:srgbClr val="37474F"/>
                </a:solidFill>
                <a:latin typeface="Calibri"/>
              </a:rPr>
              <a:t>The Freelance Economy Surge: The global Gig Economy has transformed remote work, offering Egyptian digital talents direct exposure to international markets and serving as a key driver for foreign currency remittances.  </a:t>
            </a:r>
          </a:p>
          <a:p>
            <a:endParaRPr lang="en-US" sz="2000" dirty="0">
              <a:solidFill>
                <a:srgbClr val="37474F"/>
              </a:solidFill>
              <a:latin typeface="Calibri"/>
            </a:endParaRPr>
          </a:p>
          <a:p>
            <a:pPr marL="342900" indent="-342900">
              <a:buFont typeface="Arial" panose="020B0604020202020204" pitchFamily="34" charset="0"/>
              <a:buChar char="•"/>
            </a:pPr>
            <a:r>
              <a:rPr lang="en-US" sz="2000" dirty="0">
                <a:solidFill>
                  <a:srgbClr val="37474F"/>
                </a:solidFill>
                <a:latin typeface="Calibri"/>
              </a:rPr>
              <a:t>The Structural Skill Disconnect: Despite high registration rates on major platforms (e.g., Upwork, </a:t>
            </a:r>
            <a:r>
              <a:rPr lang="en-US" sz="2000" dirty="0" err="1">
                <a:solidFill>
                  <a:srgbClr val="37474F"/>
                </a:solidFill>
                <a:latin typeface="Calibri"/>
              </a:rPr>
              <a:t>Mostaql</a:t>
            </a:r>
            <a:r>
              <a:rPr lang="en-US" sz="2000" dirty="0">
                <a:solidFill>
                  <a:srgbClr val="37474F"/>
                </a:solidFill>
                <a:latin typeface="Calibri"/>
              </a:rPr>
              <a:t>, </a:t>
            </a:r>
            <a:r>
              <a:rPr lang="en-US" sz="2000" dirty="0" err="1">
                <a:solidFill>
                  <a:srgbClr val="37474F"/>
                </a:solidFill>
                <a:latin typeface="Calibri"/>
              </a:rPr>
              <a:t>Khamsat</a:t>
            </a:r>
            <a:r>
              <a:rPr lang="en-US" sz="2000" dirty="0">
                <a:solidFill>
                  <a:srgbClr val="37474F"/>
                </a:solidFill>
                <a:latin typeface="Calibri"/>
              </a:rPr>
              <a:t>), a severe mismatch persists between local candidate capabilities and global high-paying technical requirements. This gap results in low proposal acceptance rates and market underpricing.  </a:t>
            </a:r>
          </a:p>
          <a:p>
            <a:endParaRPr lang="en-US" sz="2000" dirty="0">
              <a:solidFill>
                <a:srgbClr val="37474F"/>
              </a:solidFill>
              <a:latin typeface="Calibri"/>
            </a:endParaRPr>
          </a:p>
          <a:p>
            <a:pPr marL="342900" indent="-342900">
              <a:buFont typeface="Arial" panose="020B0604020202020204" pitchFamily="34" charset="0"/>
              <a:buChar char="•"/>
            </a:pPr>
            <a:r>
              <a:rPr lang="en-US" sz="2000" dirty="0">
                <a:solidFill>
                  <a:srgbClr val="37474F"/>
                </a:solidFill>
                <a:latin typeface="Calibri"/>
              </a:rPr>
              <a:t>K-12 &amp; Early Education Role: Pre-university technical and coding initiatives are vital for building early talent pipelines. However, decision-makers currently lack empirical data to quantify which educational interventions yield the highest return on investment (ROI) in the freelance market.  </a:t>
            </a:r>
          </a:p>
          <a:p>
            <a:endParaRPr lang="en-US" sz="2000" dirty="0">
              <a:solidFill>
                <a:srgbClr val="37474F"/>
              </a:solidFill>
              <a:latin typeface="Calibri"/>
            </a:endParaRPr>
          </a:p>
          <a:p>
            <a:pPr marL="342900" indent="-342900">
              <a:buFont typeface="Arial" panose="020B0604020202020204" pitchFamily="34" charset="0"/>
              <a:buChar char="•"/>
            </a:pPr>
            <a:r>
              <a:rPr lang="en-US" sz="2000" dirty="0">
                <a:solidFill>
                  <a:srgbClr val="37474F"/>
                </a:solidFill>
                <a:latin typeface="Calibri"/>
              </a:rPr>
              <a:t>Motivation for </a:t>
            </a:r>
            <a:r>
              <a:rPr lang="en-US" sz="2000" dirty="0" err="1">
                <a:solidFill>
                  <a:srgbClr val="37474F"/>
                </a:solidFill>
                <a:latin typeface="Calibri"/>
              </a:rPr>
              <a:t>SkillBridge</a:t>
            </a:r>
            <a:r>
              <a:rPr lang="en-US" sz="2000" dirty="0">
                <a:solidFill>
                  <a:srgbClr val="37474F"/>
                </a:solidFill>
                <a:latin typeface="Calibri"/>
              </a:rPr>
              <a:t>: Current tools offer fragmented job listings without actionable market intelligence. </a:t>
            </a:r>
            <a:r>
              <a:rPr lang="en-US" sz="2000" dirty="0" err="1">
                <a:solidFill>
                  <a:srgbClr val="37474F"/>
                </a:solidFill>
                <a:latin typeface="Calibri"/>
              </a:rPr>
              <a:t>SkillBridge</a:t>
            </a:r>
            <a:r>
              <a:rPr lang="en-US" sz="2000" dirty="0">
                <a:solidFill>
                  <a:srgbClr val="37474F"/>
                </a:solidFill>
                <a:latin typeface="Calibri"/>
              </a:rPr>
              <a:t> bridges this gap by unifying multi-platform market data with pre-university educational metrics into a single, data-driven analytical framework. </a:t>
            </a:r>
          </a:p>
        </p:txBody>
      </p:sp>
      <p:sp>
        <p:nvSpPr>
          <p:cNvPr id="70" name="ProbHdr"/>
          <p:cNvSpPr/>
          <p:nvPr/>
        </p:nvSpPr>
        <p:spPr>
          <a:xfrm>
            <a:off x="609600" y="37719000"/>
            <a:ext cx="10160000" cy="1677000"/>
          </a:xfrm>
          <a:prstGeom prst="rect">
            <a:avLst/>
          </a:prstGeom>
          <a:solidFill>
            <a:srgbClr val="1A2D5A"/>
          </a:solidFill>
          <a:ln w="0">
            <a:noFill/>
          </a:ln>
        </p:spPr>
        <p:txBody>
          <a:bodyPr/>
          <a:lstStyle/>
          <a:p>
            <a:endParaRPr lang="en-US"/>
          </a:p>
        </p:txBody>
      </p:sp>
      <p:sp>
        <p:nvSpPr>
          <p:cNvPr id="71" name="ProbHdrTxt"/>
          <p:cNvSpPr/>
          <p:nvPr/>
        </p:nvSpPr>
        <p:spPr>
          <a:xfrm>
            <a:off x="914400" y="37795800"/>
            <a:ext cx="9855200" cy="1600200"/>
          </a:xfrm>
          <a:prstGeom prst="rect">
            <a:avLst/>
          </a:prstGeom>
          <a:noFill/>
        </p:spPr>
        <p:txBody>
          <a:bodyPr wrap="square" lIns="182880" tIns="91440" rIns="91440" bIns="91440" rtlCol="0" anchor="ctr"/>
          <a:lstStyle/>
          <a:p>
            <a:pPr algn="l">
              <a:buNone/>
            </a:pPr>
            <a:r>
              <a:rPr lang="en-US" sz="2800" b="1" dirty="0">
                <a:solidFill>
                  <a:srgbClr val="00AEEF"/>
                </a:solidFill>
                <a:latin typeface="Calibri"/>
              </a:rPr>
              <a:t>Problem Statement</a:t>
            </a:r>
          </a:p>
        </p:txBody>
      </p:sp>
      <p:sp>
        <p:nvSpPr>
          <p:cNvPr id="72" name="ProbBody"/>
          <p:cNvSpPr/>
          <p:nvPr/>
        </p:nvSpPr>
        <p:spPr>
          <a:xfrm>
            <a:off x="609600" y="39396000"/>
            <a:ext cx="10160000" cy="3809400"/>
          </a:xfrm>
          <a:prstGeom prst="rect">
            <a:avLst/>
          </a:prstGeom>
          <a:solidFill>
            <a:srgbClr val="FFFFFF"/>
          </a:solidFill>
          <a:ln w="12700">
            <a:solidFill>
              <a:srgbClr val="B0BEC5"/>
            </a:solidFill>
          </a:ln>
        </p:spPr>
        <p:txBody>
          <a:bodyPr/>
          <a:lstStyle/>
          <a:p>
            <a:endParaRPr lang="en-US"/>
          </a:p>
        </p:txBody>
      </p:sp>
      <p:sp>
        <p:nvSpPr>
          <p:cNvPr id="73" name="ProbBodyTxt"/>
          <p:cNvSpPr/>
          <p:nvPr/>
        </p:nvSpPr>
        <p:spPr>
          <a:xfrm>
            <a:off x="609600" y="39394800"/>
            <a:ext cx="9551200" cy="3810600"/>
          </a:xfrm>
          <a:prstGeom prst="rect">
            <a:avLst/>
          </a:prstGeom>
          <a:noFill/>
        </p:spPr>
        <p:txBody>
          <a:bodyPr wrap="square" lIns="182880" tIns="91440" rIns="182880" bIns="91440" rtlCol="0" anchor="t"/>
          <a:lstStyle/>
          <a:p>
            <a:pPr marL="342900" indent="-342900">
              <a:buFont typeface="Arial" panose="020B0604020202020204" pitchFamily="34" charset="0"/>
              <a:buChar char="•"/>
            </a:pPr>
            <a:r>
              <a:rPr lang="en-US" sz="2000" b="1" dirty="0">
                <a:solidFill>
                  <a:srgbClr val="37474F"/>
                </a:solidFill>
                <a:latin typeface="Calibri"/>
              </a:rPr>
              <a:t>Market Asymmetry: </a:t>
            </a:r>
            <a:r>
              <a:rPr lang="en-US" sz="2000" dirty="0">
                <a:solidFill>
                  <a:srgbClr val="37474F"/>
                </a:solidFill>
                <a:latin typeface="Calibri"/>
              </a:rPr>
              <a:t>Entry-level freelancers face price undercutting and low acceptance rates due to saturated, unguided skill choices.</a:t>
            </a:r>
          </a:p>
          <a:p>
            <a:endParaRPr lang="en-US" sz="2000" dirty="0">
              <a:solidFill>
                <a:srgbClr val="37474F"/>
              </a:solidFill>
              <a:latin typeface="Calibri"/>
            </a:endParaRPr>
          </a:p>
          <a:p>
            <a:pPr marL="342900" indent="-342900">
              <a:buFont typeface="Arial" panose="020B0604020202020204" pitchFamily="34" charset="0"/>
              <a:buChar char="•"/>
            </a:pPr>
            <a:r>
              <a:rPr lang="en-US" sz="2000" b="1" dirty="0">
                <a:solidFill>
                  <a:srgbClr val="37474F"/>
                </a:solidFill>
                <a:latin typeface="Calibri"/>
              </a:rPr>
              <a:t>Educational Alignment: </a:t>
            </a:r>
            <a:r>
              <a:rPr lang="en-US" sz="2000" dirty="0">
                <a:solidFill>
                  <a:srgbClr val="37474F"/>
                </a:solidFill>
                <a:latin typeface="Calibri"/>
              </a:rPr>
              <a:t>Built on MCIT’s strong K-12 coding foundation, </a:t>
            </a:r>
            <a:r>
              <a:rPr lang="en-US" sz="2000" dirty="0" err="1">
                <a:solidFill>
                  <a:srgbClr val="37474F"/>
                </a:solidFill>
                <a:latin typeface="Calibri"/>
              </a:rPr>
              <a:t>SkillBridge</a:t>
            </a:r>
            <a:r>
              <a:rPr lang="en-US" sz="2000" dirty="0">
                <a:solidFill>
                  <a:srgbClr val="37474F"/>
                </a:solidFill>
                <a:latin typeface="Calibri"/>
              </a:rPr>
              <a:t> adds a data-driven feedback loop to directly map early skills to active market demands.</a:t>
            </a:r>
          </a:p>
          <a:p>
            <a:endParaRPr lang="en-US" sz="2000" dirty="0">
              <a:solidFill>
                <a:srgbClr val="37474F"/>
              </a:solidFill>
              <a:latin typeface="Calibri"/>
            </a:endParaRPr>
          </a:p>
          <a:p>
            <a:pPr marL="342900" indent="-342900">
              <a:buFont typeface="Arial" panose="020B0604020202020204" pitchFamily="34" charset="0"/>
              <a:buChar char="•"/>
            </a:pPr>
            <a:r>
              <a:rPr lang="en-US" sz="2000" b="1" dirty="0">
                <a:solidFill>
                  <a:srgbClr val="37474F"/>
                </a:solidFill>
                <a:latin typeface="Calibri"/>
              </a:rPr>
              <a:t>Target Stakeholders: </a:t>
            </a:r>
            <a:r>
              <a:rPr lang="en-US" sz="2000" dirty="0">
                <a:solidFill>
                  <a:srgbClr val="37474F"/>
                </a:solidFill>
                <a:latin typeface="Calibri"/>
              </a:rPr>
              <a:t>Digital talents, tech recruiters, and national educational policymakers.</a:t>
            </a:r>
          </a:p>
          <a:p>
            <a:endParaRPr lang="en-US" sz="2000" dirty="0">
              <a:solidFill>
                <a:srgbClr val="37474F"/>
              </a:solidFill>
              <a:latin typeface="Calibri"/>
            </a:endParaRPr>
          </a:p>
          <a:p>
            <a:pPr marL="342900" indent="-342900">
              <a:buFont typeface="Arial" panose="020B0604020202020204" pitchFamily="34" charset="0"/>
              <a:buChar char="•"/>
            </a:pPr>
            <a:r>
              <a:rPr lang="en-US" sz="2000" b="1" dirty="0">
                <a:solidFill>
                  <a:srgbClr val="37474F"/>
                </a:solidFill>
                <a:latin typeface="Calibri"/>
              </a:rPr>
              <a:t>Cost of Inaction: </a:t>
            </a:r>
            <a:r>
              <a:rPr lang="en-US" sz="2000" dirty="0">
                <a:solidFill>
                  <a:srgbClr val="37474F"/>
                </a:solidFill>
                <a:latin typeface="Calibri"/>
              </a:rPr>
              <a:t>Sub-optimal talent utilization, reduced foreign currency inflows, and unaligned educational investments.</a:t>
            </a:r>
          </a:p>
        </p:txBody>
      </p:sp>
      <p:sp>
        <p:nvSpPr>
          <p:cNvPr id="80" name="MethHdr"/>
          <p:cNvSpPr/>
          <p:nvPr/>
        </p:nvSpPr>
        <p:spPr>
          <a:xfrm>
            <a:off x="11379200" y="19888200"/>
            <a:ext cx="10160000" cy="1600200"/>
          </a:xfrm>
          <a:prstGeom prst="rect">
            <a:avLst/>
          </a:prstGeom>
          <a:solidFill>
            <a:srgbClr val="1E5CA8"/>
          </a:solidFill>
          <a:ln w="0">
            <a:noFill/>
          </a:ln>
        </p:spPr>
        <p:txBody>
          <a:bodyPr/>
          <a:lstStyle/>
          <a:p>
            <a:endParaRPr lang="en-US"/>
          </a:p>
        </p:txBody>
      </p:sp>
      <p:sp>
        <p:nvSpPr>
          <p:cNvPr id="81" name="MethHdrTxt"/>
          <p:cNvSpPr/>
          <p:nvPr/>
        </p:nvSpPr>
        <p:spPr>
          <a:xfrm>
            <a:off x="11684000" y="19888200"/>
            <a:ext cx="9855200" cy="1600200"/>
          </a:xfrm>
          <a:prstGeom prst="rect">
            <a:avLst/>
          </a:prstGeom>
          <a:noFill/>
        </p:spPr>
        <p:txBody>
          <a:bodyPr wrap="square" lIns="182880" tIns="91440" rIns="91440" bIns="91440" rtlCol="0" anchor="ctr"/>
          <a:lstStyle/>
          <a:p>
            <a:pPr algn="l">
              <a:buNone/>
            </a:pPr>
            <a:r>
              <a:rPr lang="en-US" sz="2800" b="1" dirty="0">
                <a:solidFill>
                  <a:srgbClr val="FFFFFF"/>
                </a:solidFill>
                <a:latin typeface="Calibri"/>
              </a:rPr>
              <a:t>Methodology &amp; Approach</a:t>
            </a:r>
          </a:p>
        </p:txBody>
      </p:sp>
      <p:sp>
        <p:nvSpPr>
          <p:cNvPr id="82" name="MethBody"/>
          <p:cNvSpPr/>
          <p:nvPr/>
        </p:nvSpPr>
        <p:spPr>
          <a:xfrm>
            <a:off x="11379200" y="21488400"/>
            <a:ext cx="10160000" cy="7239600"/>
          </a:xfrm>
          <a:prstGeom prst="rect">
            <a:avLst/>
          </a:prstGeom>
          <a:solidFill>
            <a:srgbClr val="E8F4FD"/>
          </a:solidFill>
          <a:ln w="12700">
            <a:solidFill>
              <a:srgbClr val="1E5CA8"/>
            </a:solidFill>
          </a:ln>
        </p:spPr>
        <p:txBody>
          <a:bodyPr/>
          <a:lstStyle/>
          <a:p>
            <a:endParaRPr lang="en-US"/>
          </a:p>
        </p:txBody>
      </p:sp>
      <mc:AlternateContent xmlns:mc="http://schemas.openxmlformats.org/markup-compatibility/2006" xmlns:a14="http://schemas.microsoft.com/office/drawing/2010/main">
        <mc:Choice Requires="a14">
          <p:sp>
            <p:nvSpPr>
              <p:cNvPr id="83" name="MethBodyTxt"/>
              <p:cNvSpPr/>
              <p:nvPr/>
            </p:nvSpPr>
            <p:spPr>
              <a:xfrm>
                <a:off x="11397252" y="21640200"/>
                <a:ext cx="9865096" cy="6934800"/>
              </a:xfrm>
              <a:prstGeom prst="rect">
                <a:avLst/>
              </a:prstGeom>
              <a:noFill/>
            </p:spPr>
            <p:txBody>
              <a:bodyPr wrap="square" lIns="182880" tIns="91440" rIns="182880" bIns="91440" rtlCol="0" anchor="t"/>
              <a:lstStyle/>
              <a:p>
                <a:pPr marL="274638" indent="-274638">
                  <a:spcAft>
                    <a:spcPts val="400"/>
                  </a:spcAft>
                  <a:buChar char="▶"/>
                </a:pPr>
                <a:r>
                  <a:rPr lang="en-US" sz="2000" b="1" dirty="0">
                    <a:solidFill>
                      <a:srgbClr val="1A2D5A"/>
                    </a:solidFill>
                    <a:latin typeface="Calibri"/>
                  </a:rPr>
                  <a:t>System Architecture: </a:t>
                </a:r>
                <a:r>
                  <a:rPr lang="en-US" sz="2000" dirty="0">
                    <a:solidFill>
                      <a:srgbClr val="1A2D5A"/>
                    </a:solidFill>
                    <a:latin typeface="Calibri"/>
                  </a:rPr>
                  <a:t>A 5-tier pipeline: Data Integration, Python Cleaning/EDA, Machine learning Engine, Relational Star Schema, Interactive Power BI dashboards.</a:t>
                </a:r>
              </a:p>
              <a:p>
                <a:pPr marL="274638" indent="-274638">
                  <a:spcAft>
                    <a:spcPts val="400"/>
                  </a:spcAft>
                  <a:buChar char="▶"/>
                </a:pPr>
                <a:r>
                  <a:rPr lang="en-US" sz="2000" b="1" dirty="0">
                    <a:solidFill>
                      <a:srgbClr val="1A2D5A"/>
                    </a:solidFill>
                    <a:latin typeface="Calibri"/>
                  </a:rPr>
                  <a:t>Datasets &amp; Data Pipeline: </a:t>
                </a:r>
              </a:p>
              <a:p>
                <a:pPr marL="342900" indent="-342900">
                  <a:spcAft>
                    <a:spcPts val="400"/>
                  </a:spcAft>
                  <a:buFont typeface="Arial" panose="020B0604020202020204" pitchFamily="34" charset="0"/>
                  <a:buChar char="•"/>
                </a:pPr>
                <a:r>
                  <a:rPr lang="en-US" sz="2000" dirty="0">
                    <a:solidFill>
                      <a:srgbClr val="1A2D5A"/>
                    </a:solidFill>
                    <a:latin typeface="Calibri"/>
                  </a:rPr>
                  <a:t>Unstructured job postings and freelancer profiles extracted from Upwork, </a:t>
                </a:r>
                <a:r>
                  <a:rPr lang="en-US" sz="2000" dirty="0" err="1">
                    <a:solidFill>
                      <a:srgbClr val="1A2D5A"/>
                    </a:solidFill>
                    <a:latin typeface="Calibri"/>
                  </a:rPr>
                  <a:t>Mostaql</a:t>
                </a:r>
                <a:r>
                  <a:rPr lang="en-US" sz="2000" dirty="0">
                    <a:solidFill>
                      <a:srgbClr val="1A2D5A"/>
                    </a:solidFill>
                    <a:latin typeface="Calibri"/>
                  </a:rPr>
                  <a:t>, </a:t>
                </a:r>
                <a:r>
                  <a:rPr lang="en-US" sz="2000" dirty="0" err="1">
                    <a:solidFill>
                      <a:srgbClr val="1A2D5A"/>
                    </a:solidFill>
                    <a:latin typeface="Calibri"/>
                  </a:rPr>
                  <a:t>Khamsat</a:t>
                </a:r>
                <a:r>
                  <a:rPr lang="en-US" sz="2000" dirty="0">
                    <a:solidFill>
                      <a:srgbClr val="1A2D5A"/>
                    </a:solidFill>
                    <a:latin typeface="Calibri"/>
                  </a:rPr>
                  <a:t>, and Kaggle datasets</a:t>
                </a:r>
              </a:p>
              <a:p>
                <a:pPr marL="342900" indent="-342900">
                  <a:spcAft>
                    <a:spcPts val="400"/>
                  </a:spcAft>
                  <a:buFont typeface="Arial" panose="020B0604020202020204" pitchFamily="34" charset="0"/>
                  <a:buChar char="•"/>
                </a:pPr>
                <a:r>
                  <a:rPr lang="en-US" sz="2000" dirty="0">
                    <a:solidFill>
                      <a:srgbClr val="1A2D5A"/>
                    </a:solidFill>
                    <a:latin typeface="Calibri"/>
                  </a:rPr>
                  <a:t>Educational records mapping pre-university (K-12) technical training metrics.</a:t>
                </a:r>
              </a:p>
              <a:p>
                <a:pPr marL="342900" indent="-342900">
                  <a:spcAft>
                    <a:spcPts val="400"/>
                  </a:spcAft>
                  <a:buFont typeface="Arial" panose="020B0604020202020204" pitchFamily="34" charset="0"/>
                  <a:buChar char="•"/>
                </a:pPr>
                <a:r>
                  <a:rPr lang="en-US" sz="2000" dirty="0">
                    <a:solidFill>
                      <a:srgbClr val="1A2D5A"/>
                    </a:solidFill>
                    <a:latin typeface="Calibri"/>
                  </a:rPr>
                  <a:t>Python pipeline (Pandas, </a:t>
                </a:r>
                <a:r>
                  <a:rPr lang="en-US" sz="2000" dirty="0" err="1">
                    <a:solidFill>
                      <a:srgbClr val="1A2D5A"/>
                    </a:solidFill>
                    <a:latin typeface="Calibri"/>
                  </a:rPr>
                  <a:t>Numpy</a:t>
                </a:r>
                <a:r>
                  <a:rPr lang="en-US" sz="2000" dirty="0">
                    <a:solidFill>
                      <a:srgbClr val="1A2D5A"/>
                    </a:solidFill>
                    <a:latin typeface="Calibri"/>
                  </a:rPr>
                  <a:t>) for missing-value handling, schema normalization, and primary/foreign key alignment.</a:t>
                </a:r>
              </a:p>
              <a:p>
                <a:pPr>
                  <a:spcAft>
                    <a:spcPts val="400"/>
                  </a:spcAft>
                </a:pPr>
                <a:endParaRPr lang="en-US" sz="2000" dirty="0">
                  <a:solidFill>
                    <a:srgbClr val="1A2D5A"/>
                  </a:solidFill>
                  <a:latin typeface="Calibri"/>
                </a:endParaRPr>
              </a:p>
              <a:p>
                <a:pPr marL="274638" indent="-274638">
                  <a:spcAft>
                    <a:spcPts val="400"/>
                  </a:spcAft>
                  <a:buChar char="▶"/>
                </a:pPr>
                <a:r>
                  <a:rPr lang="en-US" sz="2000" b="1" dirty="0">
                    <a:solidFill>
                      <a:srgbClr val="1A2D5A"/>
                    </a:solidFill>
                    <a:latin typeface="Calibri"/>
                  </a:rPr>
                  <a:t>Tools &amp; Technologies: </a:t>
                </a:r>
                <a:r>
                  <a:rPr lang="en-US" sz="2000" dirty="0">
                    <a:solidFill>
                      <a:srgbClr val="1A2D5A"/>
                    </a:solidFill>
                    <a:latin typeface="Calibri"/>
                  </a:rPr>
                  <a:t>Excel, Python, </a:t>
                </a:r>
                <a:r>
                  <a:rPr lang="en-US" sz="2000" dirty="0" err="1">
                    <a:solidFill>
                      <a:srgbClr val="1A2D5A"/>
                    </a:solidFill>
                    <a:latin typeface="Calibri"/>
                  </a:rPr>
                  <a:t>Jupyter</a:t>
                </a:r>
                <a:r>
                  <a:rPr lang="en-US" sz="2000" dirty="0">
                    <a:solidFill>
                      <a:srgbClr val="1A2D5A"/>
                    </a:solidFill>
                    <a:latin typeface="Calibri"/>
                  </a:rPr>
                  <a:t> Notebook, SQL, Power BI Desktop (Star Schema &amp; DAX), Git/GitHub. </a:t>
                </a:r>
              </a:p>
              <a:p>
                <a:pPr marL="274638" indent="-274638">
                  <a:spcAft>
                    <a:spcPts val="400"/>
                  </a:spcAft>
                  <a:buChar char="▶"/>
                </a:pPr>
                <a:r>
                  <a:rPr lang="en-US" sz="2000" b="1" dirty="0">
                    <a:solidFill>
                      <a:srgbClr val="1A2D5A"/>
                    </a:solidFill>
                    <a:latin typeface="Calibri"/>
                  </a:rPr>
                  <a:t>Machine Learning Engine: </a:t>
                </a:r>
                <a:r>
                  <a:rPr lang="en-US" sz="2000" dirty="0">
                    <a:solidFill>
                      <a:srgbClr val="1A2D5A"/>
                    </a:solidFill>
                    <a:latin typeface="Calibri"/>
                  </a:rPr>
                  <a:t>Trained a </a:t>
                </a:r>
                <a:r>
                  <a:rPr lang="en-US" sz="2000" dirty="0" err="1">
                    <a:solidFill>
                      <a:srgbClr val="1A2D5A"/>
                    </a:solidFill>
                    <a:latin typeface="Calibri"/>
                  </a:rPr>
                  <a:t>CatBoost</a:t>
                </a:r>
                <a:r>
                  <a:rPr lang="en-US" sz="2000" dirty="0">
                    <a:solidFill>
                      <a:srgbClr val="1A2D5A"/>
                    </a:solidFill>
                    <a:latin typeface="Calibri"/>
                  </a:rPr>
                  <a:t> Regressor on 109,470 validated job rows to forecast fair market rates ( </a:t>
                </a:r>
                <a:r>
                  <a:rPr lang="en-US" sz="2000" dirty="0" err="1">
                    <a:solidFill>
                      <a:srgbClr val="1A2D5A"/>
                    </a:solidFill>
                    <a:latin typeface="Calibri"/>
                  </a:rPr>
                  <a:t>Estimated_Hourly_Rate</a:t>
                </a:r>
                <a:r>
                  <a:rPr lang="en-US" sz="2000" dirty="0">
                    <a:solidFill>
                      <a:srgbClr val="1A2D5A"/>
                    </a:solidFill>
                    <a:latin typeface="Calibri"/>
                  </a:rPr>
                  <a:t> ) based on skills, region, and experience (</a:t>
                </a:r>
                <a14:m>
                  <m:oMath xmlns:m="http://schemas.openxmlformats.org/officeDocument/2006/math">
                    <m:sSup>
                      <m:sSupPr>
                        <m:ctrlPr>
                          <a:rPr lang="en-US" sz="2000" i="1" smtClean="0">
                            <a:solidFill>
                              <a:srgbClr val="1A2D5A"/>
                            </a:solidFill>
                            <a:latin typeface="Cambria Math" panose="02040503050406030204" pitchFamily="18" charset="0"/>
                          </a:rPr>
                        </m:ctrlPr>
                      </m:sSupPr>
                      <m:e>
                        <m:r>
                          <a:rPr lang="en-US" sz="2000" b="0" i="1" smtClean="0">
                            <a:solidFill>
                              <a:srgbClr val="1A2D5A"/>
                            </a:solidFill>
                            <a:latin typeface="Cambria Math" panose="02040503050406030204" pitchFamily="18" charset="0"/>
                          </a:rPr>
                          <m:t>𝑅</m:t>
                        </m:r>
                      </m:e>
                      <m:sup>
                        <m:r>
                          <a:rPr lang="en-US" sz="2000" i="1" smtClean="0">
                            <a:solidFill>
                              <a:srgbClr val="1A2D5A"/>
                            </a:solidFill>
                            <a:latin typeface="Cambria Math" panose="02040503050406030204" pitchFamily="18" charset="0"/>
                          </a:rPr>
                          <m:t>2</m:t>
                        </m:r>
                      </m:sup>
                    </m:sSup>
                  </m:oMath>
                </a14:m>
                <a:r>
                  <a:rPr lang="en-US" sz="2000" dirty="0">
                    <a:solidFill>
                      <a:srgbClr val="1A2D5A"/>
                    </a:solidFill>
                    <a:latin typeface="Calibri"/>
                  </a:rPr>
                  <a:t> = 0.682, MAE = $2.64/</a:t>
                </a:r>
                <a:r>
                  <a:rPr lang="en-US" sz="2000" dirty="0" err="1">
                    <a:solidFill>
                      <a:srgbClr val="1A2D5A"/>
                    </a:solidFill>
                    <a:latin typeface="Calibri"/>
                  </a:rPr>
                  <a:t>hr</a:t>
                </a:r>
                <a:r>
                  <a:rPr lang="en-US" sz="2000" dirty="0">
                    <a:solidFill>
                      <a:srgbClr val="1A2D5A"/>
                    </a:solidFill>
                    <a:latin typeface="Calibri"/>
                  </a:rPr>
                  <a:t>).</a:t>
                </a:r>
              </a:p>
              <a:p>
                <a:pPr>
                  <a:spcAft>
                    <a:spcPts val="400"/>
                  </a:spcAft>
                </a:pPr>
                <a:endParaRPr lang="en-US" sz="2000" dirty="0">
                  <a:solidFill>
                    <a:srgbClr val="1A2D5A"/>
                  </a:solidFill>
                  <a:latin typeface="Calibri"/>
                </a:endParaRPr>
              </a:p>
              <a:p>
                <a:pPr marL="274638" indent="-274638">
                  <a:spcAft>
                    <a:spcPts val="400"/>
                  </a:spcAft>
                  <a:buChar char="▶"/>
                </a:pPr>
                <a:r>
                  <a:rPr lang="en-US" sz="2000" b="1" dirty="0">
                    <a:solidFill>
                      <a:srgbClr val="1A2D5A"/>
                    </a:solidFill>
                    <a:latin typeface="Calibri"/>
                  </a:rPr>
                  <a:t>Core Analytical Method: </a:t>
                </a:r>
                <a:r>
                  <a:rPr lang="en-US" sz="2000" dirty="0">
                    <a:solidFill>
                      <a:srgbClr val="1A2D5A"/>
                    </a:solidFill>
                    <a:latin typeface="Calibri"/>
                  </a:rPr>
                  <a:t>Multi-dimensional Star Schema modeling paired with custom DAX measures to calculate dynamic metrics:  </a:t>
                </a:r>
              </a:p>
              <a:p>
                <a:pPr>
                  <a:spcAft>
                    <a:spcPts val="400"/>
                  </a:spcAft>
                </a:pPr>
                <a:r>
                  <a:rPr lang="en-US" sz="2000" dirty="0">
                    <a:solidFill>
                      <a:srgbClr val="1A2D5A"/>
                    </a:solidFill>
                    <a:latin typeface="Calibri"/>
                  </a:rPr>
                  <a:t>     Skill Gap Index, Market Rate Gap %, Competition Ratio, and Post-Initiative Acceptance</a:t>
                </a:r>
                <a:r>
                  <a:rPr lang="ar-EG" sz="2000" dirty="0">
                    <a:solidFill>
                      <a:srgbClr val="1A2D5A"/>
                    </a:solidFill>
                    <a:latin typeface="Calibri"/>
                  </a:rPr>
                  <a:t> </a:t>
                </a:r>
                <a:r>
                  <a:rPr lang="en-US" sz="2000" dirty="0">
                    <a:solidFill>
                      <a:srgbClr val="1A2D5A"/>
                    </a:solidFill>
                    <a:latin typeface="Calibri"/>
                  </a:rPr>
                  <a:t>      Uplift. </a:t>
                </a:r>
              </a:p>
              <a:p>
                <a:pPr>
                  <a:spcAft>
                    <a:spcPts val="400"/>
                  </a:spcAft>
                </a:pPr>
                <a:endParaRPr lang="en-US" sz="2000" dirty="0">
                  <a:solidFill>
                    <a:srgbClr val="1A2D5A"/>
                  </a:solidFill>
                  <a:latin typeface="Calibri"/>
                </a:endParaRPr>
              </a:p>
              <a:p>
                <a:pPr marL="274638" indent="-274638" algn="l">
                  <a:spcAft>
                    <a:spcPts val="400"/>
                  </a:spcAft>
                  <a:buChar char="▶"/>
                </a:pPr>
                <a:endParaRPr lang="en-US" sz="2000" dirty="0">
                  <a:solidFill>
                    <a:srgbClr val="1A2D5A"/>
                  </a:solidFill>
                  <a:latin typeface="Calibri"/>
                </a:endParaRPr>
              </a:p>
              <a:p>
                <a:pPr marL="274638" indent="-274638" algn="l">
                  <a:spcAft>
                    <a:spcPts val="400"/>
                  </a:spcAft>
                  <a:buChar char="▶"/>
                </a:pPr>
                <a:endParaRPr lang="en-US" sz="2000" dirty="0">
                  <a:solidFill>
                    <a:srgbClr val="1A2D5A"/>
                  </a:solidFill>
                  <a:latin typeface="Calibri"/>
                </a:endParaRPr>
              </a:p>
            </p:txBody>
          </p:sp>
        </mc:Choice>
        <mc:Fallback xmlns="">
          <p:sp>
            <p:nvSpPr>
              <p:cNvPr id="83" name="MethBodyTxt"/>
              <p:cNvSpPr>
                <a:spLocks noRot="1" noChangeAspect="1" noMove="1" noResize="1" noEditPoints="1" noAdjustHandles="1" noChangeArrowheads="1" noChangeShapeType="1" noTextEdit="1"/>
              </p:cNvSpPr>
              <p:nvPr/>
            </p:nvSpPr>
            <p:spPr>
              <a:xfrm>
                <a:off x="11397252" y="21640200"/>
                <a:ext cx="9865096" cy="6934800"/>
              </a:xfrm>
              <a:prstGeom prst="rect">
                <a:avLst/>
              </a:prstGeom>
              <a:blipFill>
                <a:blip r:embed="rId5"/>
                <a:stretch>
                  <a:fillRect r="-124"/>
                </a:stretch>
              </a:blipFill>
            </p:spPr>
            <p:txBody>
              <a:bodyPr/>
              <a:lstStyle/>
              <a:p>
                <a:r>
                  <a:rPr lang="en-US">
                    <a:noFill/>
                  </a:rPr>
                  <a:t> </a:t>
                </a:r>
              </a:p>
            </p:txBody>
          </p:sp>
        </mc:Fallback>
      </mc:AlternateContent>
      <p:sp>
        <p:nvSpPr>
          <p:cNvPr id="90" name="VisBox"/>
          <p:cNvSpPr/>
          <p:nvPr/>
        </p:nvSpPr>
        <p:spPr>
          <a:xfrm>
            <a:off x="11379200" y="29185200"/>
            <a:ext cx="10160000" cy="14020800"/>
          </a:xfrm>
          <a:prstGeom prst="rect">
            <a:avLst/>
          </a:prstGeom>
          <a:solidFill>
            <a:srgbClr val="FFFFFF"/>
          </a:solidFill>
          <a:ln w="38100">
            <a:solidFill>
              <a:srgbClr val="00AEEF"/>
            </a:solidFill>
          </a:ln>
        </p:spPr>
        <p:txBody>
          <a:bodyPr/>
          <a:lstStyle/>
          <a:p>
            <a:endParaRPr lang="en-US"/>
          </a:p>
        </p:txBody>
      </p:sp>
      <p:sp>
        <p:nvSpPr>
          <p:cNvPr id="91" name="VisTxt"/>
          <p:cNvSpPr/>
          <p:nvPr/>
        </p:nvSpPr>
        <p:spPr>
          <a:xfrm>
            <a:off x="11684000" y="29185200"/>
            <a:ext cx="9551200" cy="14020800"/>
          </a:xfrm>
          <a:prstGeom prst="rect">
            <a:avLst/>
          </a:prstGeom>
          <a:noFill/>
        </p:spPr>
        <p:txBody>
          <a:bodyPr wrap="square" lIns="182880" tIns="91440" rIns="182880" bIns="91440" rtlCol="0" anchor="ctr"/>
          <a:lstStyle/>
          <a:p>
            <a:pPr algn="ctr">
              <a:buNone/>
            </a:pPr>
            <a:r>
              <a:rPr lang="en-US" sz="2400" i="1" dirty="0">
                <a:solidFill>
                  <a:srgbClr val="90A4AE"/>
                </a:solidFill>
                <a:latin typeface="Calibri"/>
              </a:rPr>
              <a:t>Insert diagram, architecture figure,
screenshot, or chart here
Use a clear, high-quality image
that represents your project</a:t>
            </a:r>
          </a:p>
        </p:txBody>
      </p:sp>
      <p:sp>
        <p:nvSpPr>
          <p:cNvPr id="100" name="ResHdr"/>
          <p:cNvSpPr/>
          <p:nvPr/>
        </p:nvSpPr>
        <p:spPr>
          <a:xfrm>
            <a:off x="22148800" y="19888200"/>
            <a:ext cx="10160000" cy="1600200"/>
          </a:xfrm>
          <a:prstGeom prst="rect">
            <a:avLst/>
          </a:prstGeom>
          <a:solidFill>
            <a:srgbClr val="C8A84B"/>
          </a:solidFill>
          <a:ln w="0">
            <a:noFill/>
          </a:ln>
        </p:spPr>
        <p:txBody>
          <a:bodyPr/>
          <a:lstStyle/>
          <a:p>
            <a:endParaRPr lang="en-US"/>
          </a:p>
        </p:txBody>
      </p:sp>
      <p:sp>
        <p:nvSpPr>
          <p:cNvPr id="101" name="ResHdrTxt"/>
          <p:cNvSpPr/>
          <p:nvPr/>
        </p:nvSpPr>
        <p:spPr>
          <a:xfrm>
            <a:off x="22453600" y="19888200"/>
            <a:ext cx="9855200" cy="1600200"/>
          </a:xfrm>
          <a:prstGeom prst="rect">
            <a:avLst/>
          </a:prstGeom>
          <a:noFill/>
        </p:spPr>
        <p:txBody>
          <a:bodyPr wrap="square" lIns="182880" tIns="91440" rIns="91440" bIns="91440" rtlCol="0" anchor="ctr"/>
          <a:lstStyle/>
          <a:p>
            <a:pPr algn="l">
              <a:buNone/>
            </a:pPr>
            <a:r>
              <a:rPr lang="en-US" sz="2800" b="1" dirty="0">
                <a:solidFill>
                  <a:srgbClr val="1A2D5A"/>
                </a:solidFill>
                <a:latin typeface="Calibri"/>
              </a:rPr>
              <a:t>Results &amp; Key Outcomes</a:t>
            </a:r>
          </a:p>
        </p:txBody>
      </p:sp>
      <p:sp>
        <p:nvSpPr>
          <p:cNvPr id="102" name="ResBody"/>
          <p:cNvSpPr/>
          <p:nvPr/>
        </p:nvSpPr>
        <p:spPr>
          <a:xfrm>
            <a:off x="22148800" y="21488400"/>
            <a:ext cx="10160000" cy="7239600"/>
          </a:xfrm>
          <a:prstGeom prst="rect">
            <a:avLst/>
          </a:prstGeom>
          <a:solidFill>
            <a:srgbClr val="FFFDE7"/>
          </a:solidFill>
          <a:ln w="12700">
            <a:solidFill>
              <a:srgbClr val="C8A84B"/>
            </a:solidFill>
          </a:ln>
        </p:spPr>
        <p:txBody>
          <a:bodyPr/>
          <a:lstStyle/>
          <a:p>
            <a:endParaRPr lang="en-US" dirty="0"/>
          </a:p>
        </p:txBody>
      </p:sp>
      <mc:AlternateContent xmlns:mc="http://schemas.openxmlformats.org/markup-compatibility/2006" xmlns:a14="http://schemas.microsoft.com/office/drawing/2010/main">
        <mc:Choice Requires="a14">
          <p:sp>
            <p:nvSpPr>
              <p:cNvPr id="103" name="ResBodyTxt"/>
              <p:cNvSpPr/>
              <p:nvPr/>
            </p:nvSpPr>
            <p:spPr>
              <a:xfrm>
                <a:off x="22187077" y="21640800"/>
                <a:ext cx="9551200" cy="6934800"/>
              </a:xfrm>
              <a:prstGeom prst="rect">
                <a:avLst/>
              </a:prstGeom>
              <a:noFill/>
            </p:spPr>
            <p:txBody>
              <a:bodyPr wrap="square" lIns="182880" tIns="91440" rIns="182880" bIns="91440" rtlCol="0" anchor="t"/>
              <a:lstStyle/>
              <a:p>
                <a:pPr marL="342900" indent="-342900">
                  <a:spcAft>
                    <a:spcPts val="400"/>
                  </a:spcAft>
                  <a:buFont typeface="Arial" panose="020B0604020202020204" pitchFamily="34" charset="0"/>
                  <a:buChar char="•"/>
                </a:pPr>
                <a:r>
                  <a:rPr lang="en-US" sz="2000" b="1" dirty="0">
                    <a:solidFill>
                      <a:srgbClr val="1A2D5A"/>
                    </a:solidFill>
                    <a:latin typeface="Calibri"/>
                  </a:rPr>
                  <a:t>100% Skill Mapping: </a:t>
                </a:r>
                <a:r>
                  <a:rPr lang="en-US" sz="2000" dirty="0">
                    <a:solidFill>
                      <a:srgbClr val="1A2D5A"/>
                    </a:solidFill>
                    <a:latin typeface="Calibri"/>
                  </a:rPr>
                  <a:t>Identified high-paying technical skill deficits versus over-saturated entry-level categories.</a:t>
                </a:r>
              </a:p>
              <a:p>
                <a:pPr>
                  <a:spcAft>
                    <a:spcPts val="400"/>
                  </a:spcAft>
                </a:pPr>
                <a:endParaRPr lang="en-US" sz="2000" dirty="0">
                  <a:solidFill>
                    <a:srgbClr val="1A2D5A"/>
                  </a:solidFill>
                  <a:latin typeface="Calibri"/>
                </a:endParaRPr>
              </a:p>
              <a:p>
                <a:pPr marL="342900" indent="-342900">
                  <a:spcAft>
                    <a:spcPts val="400"/>
                  </a:spcAft>
                  <a:buFont typeface="Arial" panose="020B0604020202020204" pitchFamily="34" charset="0"/>
                  <a:buChar char="•"/>
                </a:pPr>
                <a:r>
                  <a:rPr lang="en-US" sz="2000" b="1" dirty="0">
                    <a:solidFill>
                      <a:srgbClr val="1A2D5A"/>
                    </a:solidFill>
                    <a:latin typeface="Calibri"/>
                  </a:rPr>
                  <a:t>Predictive Pricing Accuracy: </a:t>
                </a:r>
                <a:r>
                  <a:rPr lang="en-US" sz="2000" dirty="0">
                    <a:solidFill>
                      <a:srgbClr val="1A2D5A"/>
                    </a:solidFill>
                    <a:latin typeface="Calibri"/>
                  </a:rPr>
                  <a:t>Deployed a Salary Predictor model achieving </a:t>
                </a:r>
                <a14:m>
                  <m:oMath xmlns:m="http://schemas.openxmlformats.org/officeDocument/2006/math">
                    <m:sSup>
                      <m:sSupPr>
                        <m:ctrlPr>
                          <a:rPr lang="en-US" sz="2000" i="1" smtClean="0">
                            <a:solidFill>
                              <a:srgbClr val="1A2D5A"/>
                            </a:solidFill>
                            <a:latin typeface="Cambria Math" panose="02040503050406030204" pitchFamily="18" charset="0"/>
                          </a:rPr>
                        </m:ctrlPr>
                      </m:sSupPr>
                      <m:e>
                        <m:r>
                          <a:rPr lang="en-US" sz="2000" b="0" i="1" smtClean="0">
                            <a:solidFill>
                              <a:srgbClr val="1A2D5A"/>
                            </a:solidFill>
                            <a:latin typeface="Cambria Math" panose="02040503050406030204" pitchFamily="18" charset="0"/>
                          </a:rPr>
                          <m:t>𝑅</m:t>
                        </m:r>
                      </m:e>
                      <m:sup>
                        <m:r>
                          <a:rPr lang="en-US" sz="2000" i="1" smtClean="0">
                            <a:solidFill>
                              <a:srgbClr val="1A2D5A"/>
                            </a:solidFill>
                            <a:latin typeface="Cambria Math" panose="02040503050406030204" pitchFamily="18" charset="0"/>
                          </a:rPr>
                          <m:t>2</m:t>
                        </m:r>
                      </m:sup>
                    </m:sSup>
                  </m:oMath>
                </a14:m>
                <a:r>
                  <a:rPr lang="en-US" sz="2000" dirty="0">
                    <a:solidFill>
                      <a:srgbClr val="1A2D5A"/>
                    </a:solidFill>
                    <a:latin typeface="Calibri"/>
                  </a:rPr>
                  <a:t> score of 0.682 and a low MAE of $2.64/</a:t>
                </a:r>
                <a:r>
                  <a:rPr lang="en-US" sz="2000" dirty="0" err="1">
                    <a:solidFill>
                      <a:srgbClr val="1A2D5A"/>
                    </a:solidFill>
                    <a:latin typeface="Calibri"/>
                  </a:rPr>
                  <a:t>hr</a:t>
                </a:r>
                <a:r>
                  <a:rPr lang="en-US" sz="2000" dirty="0">
                    <a:solidFill>
                      <a:srgbClr val="1A2D5A"/>
                    </a:solidFill>
                    <a:latin typeface="Calibri"/>
                  </a:rPr>
                  <a:t>, establishing objective wage standards for both Hourly and Fixed-Price jobs.</a:t>
                </a:r>
              </a:p>
              <a:p>
                <a:pPr>
                  <a:spcAft>
                    <a:spcPts val="400"/>
                  </a:spcAft>
                </a:pPr>
                <a:endParaRPr lang="en-US" sz="2000" dirty="0">
                  <a:solidFill>
                    <a:srgbClr val="1A2D5A"/>
                  </a:solidFill>
                  <a:latin typeface="Calibri"/>
                </a:endParaRPr>
              </a:p>
              <a:p>
                <a:pPr marL="342900" indent="-342900">
                  <a:spcAft>
                    <a:spcPts val="400"/>
                  </a:spcAft>
                  <a:buFont typeface="Arial" panose="020B0604020202020204" pitchFamily="34" charset="0"/>
                  <a:buChar char="•"/>
                </a:pPr>
                <a:r>
                  <a:rPr lang="en-US" sz="2000" b="1" dirty="0">
                    <a:solidFill>
                      <a:srgbClr val="1A2D5A"/>
                    </a:solidFill>
                    <a:latin typeface="Calibri"/>
                  </a:rPr>
                  <a:t>Educational ROI Uplift: </a:t>
                </a:r>
                <a:r>
                  <a:rPr lang="en-US" sz="2000" dirty="0">
                    <a:solidFill>
                      <a:srgbClr val="1A2D5A"/>
                    </a:solidFill>
                    <a:latin typeface="Calibri"/>
                  </a:rPr>
                  <a:t>Quantified a measurable increase in candidate acceptance rates (</a:t>
                </a:r>
                <a:r>
                  <a:rPr lang="en-US" sz="2000" dirty="0" err="1">
                    <a:solidFill>
                      <a:srgbClr val="1A2D5A"/>
                    </a:solidFill>
                    <a:latin typeface="Calibri"/>
                  </a:rPr>
                  <a:t>Post_Acceptance_Rate</a:t>
                </a:r>
                <a:r>
                  <a:rPr lang="en-US" sz="2000" dirty="0">
                    <a:solidFill>
                      <a:srgbClr val="1A2D5A"/>
                    </a:solidFill>
                    <a:latin typeface="Calibri"/>
                  </a:rPr>
                  <a:t>) and hourly earnings following pre-university (K-12) technical training interventions.</a:t>
                </a:r>
              </a:p>
              <a:p>
                <a:pPr marL="342900" indent="-342900">
                  <a:spcAft>
                    <a:spcPts val="400"/>
                  </a:spcAft>
                  <a:buFont typeface="Arial" panose="020B0604020202020204" pitchFamily="34" charset="0"/>
                  <a:buChar char="•"/>
                </a:pPr>
                <a:endParaRPr lang="en-US" sz="2000" dirty="0">
                  <a:solidFill>
                    <a:srgbClr val="1A2D5A"/>
                  </a:solidFill>
                  <a:latin typeface="Calibri"/>
                </a:endParaRPr>
              </a:p>
              <a:p>
                <a:pPr>
                  <a:spcAft>
                    <a:spcPts val="400"/>
                  </a:spcAft>
                </a:pPr>
                <a:endParaRPr lang="en-US" sz="2000" dirty="0">
                  <a:solidFill>
                    <a:srgbClr val="1A2D5A"/>
                  </a:solidFill>
                  <a:latin typeface="Calibri"/>
                </a:endParaRPr>
              </a:p>
              <a:p>
                <a:pPr marL="342900" indent="-342900">
                  <a:spcAft>
                    <a:spcPts val="400"/>
                  </a:spcAft>
                  <a:buFont typeface="Arial" panose="020B0604020202020204" pitchFamily="34" charset="0"/>
                  <a:buChar char="•"/>
                </a:pPr>
                <a:r>
                  <a:rPr lang="en-US" sz="2000" b="1" dirty="0">
                    <a:solidFill>
                      <a:srgbClr val="1A2D5A"/>
                    </a:solidFill>
                    <a:latin typeface="Calibri"/>
                  </a:rPr>
                  <a:t>Pricing &amp; Wage Benchmarking:</a:t>
                </a:r>
                <a:r>
                  <a:rPr lang="en-US" sz="2000" dirty="0">
                    <a:solidFill>
                      <a:srgbClr val="1A2D5A"/>
                    </a:solidFill>
                    <a:latin typeface="Calibri"/>
                  </a:rPr>
                  <a:t> Identified a key gap between market offer rates and freelancer ask rates (Market Rate Gap%), establishing optimized hourly rate benchmarks for beginners and professionals.</a:t>
                </a:r>
              </a:p>
              <a:p>
                <a:pPr>
                  <a:spcAft>
                    <a:spcPts val="400"/>
                  </a:spcAft>
                </a:pPr>
                <a:endParaRPr lang="en-US" sz="2000" dirty="0">
                  <a:solidFill>
                    <a:srgbClr val="1A2D5A"/>
                  </a:solidFill>
                  <a:latin typeface="Calibri"/>
                </a:endParaRPr>
              </a:p>
              <a:p>
                <a:pPr marL="342900" indent="-342900">
                  <a:spcAft>
                    <a:spcPts val="400"/>
                  </a:spcAft>
                  <a:buFont typeface="Arial" panose="020B0604020202020204" pitchFamily="34" charset="0"/>
                  <a:buChar char="•"/>
                </a:pPr>
                <a:r>
                  <a:rPr lang="en-US" sz="2000" b="1" dirty="0">
                    <a:solidFill>
                      <a:srgbClr val="1A2D5A"/>
                    </a:solidFill>
                    <a:latin typeface="Calibri"/>
                  </a:rPr>
                  <a:t>Strategic BI Suite: </a:t>
                </a:r>
                <a:r>
                  <a:rPr lang="en-US" sz="2000" dirty="0">
                    <a:solidFill>
                      <a:srgbClr val="1A2D5A"/>
                    </a:solidFill>
                    <a:latin typeface="Calibri"/>
                  </a:rPr>
                  <a:t>Developed a 7-dashboard interactive Power BI framework delivering sub-second query performance and dynamic filtering across geographic, skill, and client dimensions.</a:t>
                </a:r>
              </a:p>
              <a:p>
                <a:pPr marL="274638" indent="-274638">
                  <a:spcAft>
                    <a:spcPts val="400"/>
                  </a:spcAft>
                  <a:buChar char="●"/>
                </a:pPr>
                <a:endParaRPr lang="en-US" sz="2000" dirty="0">
                  <a:solidFill>
                    <a:srgbClr val="1A2D5A"/>
                  </a:solidFill>
                  <a:latin typeface="Calibri"/>
                </a:endParaRPr>
              </a:p>
            </p:txBody>
          </p:sp>
        </mc:Choice>
        <mc:Fallback xmlns="">
          <p:sp>
            <p:nvSpPr>
              <p:cNvPr id="103" name="ResBodyTxt"/>
              <p:cNvSpPr>
                <a:spLocks noRot="1" noChangeAspect="1" noMove="1" noResize="1" noEditPoints="1" noAdjustHandles="1" noChangeArrowheads="1" noChangeShapeType="1" noTextEdit="1"/>
              </p:cNvSpPr>
              <p:nvPr/>
            </p:nvSpPr>
            <p:spPr>
              <a:xfrm>
                <a:off x="22187077" y="21640800"/>
                <a:ext cx="9551200" cy="6934800"/>
              </a:xfrm>
              <a:prstGeom prst="rect">
                <a:avLst/>
              </a:prstGeom>
              <a:blipFill>
                <a:blip r:embed="rId6"/>
                <a:stretch>
                  <a:fillRect/>
                </a:stretch>
              </a:blipFill>
            </p:spPr>
            <p:txBody>
              <a:bodyPr/>
              <a:lstStyle/>
              <a:p>
                <a:r>
                  <a:rPr lang="en-US">
                    <a:noFill/>
                  </a:rPr>
                  <a:t> </a:t>
                </a:r>
              </a:p>
            </p:txBody>
          </p:sp>
        </mc:Fallback>
      </mc:AlternateContent>
      <p:sp>
        <p:nvSpPr>
          <p:cNvPr id="110" name="ConHdr"/>
          <p:cNvSpPr/>
          <p:nvPr/>
        </p:nvSpPr>
        <p:spPr>
          <a:xfrm>
            <a:off x="22148800" y="29185200"/>
            <a:ext cx="10160000" cy="1600200"/>
          </a:xfrm>
          <a:prstGeom prst="rect">
            <a:avLst/>
          </a:prstGeom>
          <a:solidFill>
            <a:srgbClr val="C8A84B"/>
          </a:solidFill>
          <a:ln w="0">
            <a:noFill/>
          </a:ln>
        </p:spPr>
        <p:txBody>
          <a:bodyPr/>
          <a:lstStyle/>
          <a:p>
            <a:endParaRPr lang="en-US"/>
          </a:p>
        </p:txBody>
      </p:sp>
      <p:sp>
        <p:nvSpPr>
          <p:cNvPr id="111" name="ConHdrTxt"/>
          <p:cNvSpPr/>
          <p:nvPr/>
        </p:nvSpPr>
        <p:spPr>
          <a:xfrm>
            <a:off x="22453600" y="29185200"/>
            <a:ext cx="9855200" cy="1600200"/>
          </a:xfrm>
          <a:prstGeom prst="rect">
            <a:avLst/>
          </a:prstGeom>
          <a:noFill/>
        </p:spPr>
        <p:txBody>
          <a:bodyPr wrap="square" lIns="182880" tIns="91440" rIns="91440" bIns="91440" rtlCol="0" anchor="ctr"/>
          <a:lstStyle/>
          <a:p>
            <a:pPr algn="l">
              <a:buNone/>
            </a:pPr>
            <a:r>
              <a:rPr lang="en-US" sz="2800" b="1" dirty="0">
                <a:solidFill>
                  <a:srgbClr val="1A2D5A"/>
                </a:solidFill>
                <a:latin typeface="Calibri"/>
              </a:rPr>
              <a:t>Conclusion &amp; Recommendations</a:t>
            </a:r>
          </a:p>
        </p:txBody>
      </p:sp>
      <p:sp>
        <p:nvSpPr>
          <p:cNvPr id="112" name="ConBody"/>
          <p:cNvSpPr/>
          <p:nvPr/>
        </p:nvSpPr>
        <p:spPr>
          <a:xfrm>
            <a:off x="22148800" y="30785400"/>
            <a:ext cx="10160000" cy="6095400"/>
          </a:xfrm>
          <a:prstGeom prst="rect">
            <a:avLst/>
          </a:prstGeom>
          <a:solidFill>
            <a:srgbClr val="FFFDE7"/>
          </a:solidFill>
          <a:ln w="12700">
            <a:solidFill>
              <a:srgbClr val="C8A84B"/>
            </a:solidFill>
          </a:ln>
        </p:spPr>
        <p:txBody>
          <a:bodyPr/>
          <a:lstStyle/>
          <a:p>
            <a:endParaRPr lang="en-US" dirty="0"/>
          </a:p>
        </p:txBody>
      </p:sp>
      <p:sp>
        <p:nvSpPr>
          <p:cNvPr id="113" name="ConBodyTxt"/>
          <p:cNvSpPr/>
          <p:nvPr/>
        </p:nvSpPr>
        <p:spPr>
          <a:xfrm>
            <a:off x="22148800" y="30937800"/>
            <a:ext cx="9551200" cy="5790600"/>
          </a:xfrm>
          <a:prstGeom prst="rect">
            <a:avLst/>
          </a:prstGeom>
          <a:noFill/>
        </p:spPr>
        <p:txBody>
          <a:bodyPr wrap="square" lIns="182880" tIns="91440" rIns="182880" bIns="91440" rtlCol="0" anchor="t"/>
          <a:lstStyle/>
          <a:p>
            <a:pPr marL="342900" indent="-342900">
              <a:buFont typeface="Arial" panose="020B0604020202020204" pitchFamily="34" charset="0"/>
              <a:buChar char="•"/>
            </a:pPr>
            <a:r>
              <a:rPr lang="en-US" sz="2000" b="1" dirty="0">
                <a:solidFill>
                  <a:srgbClr val="1A2D5A"/>
                </a:solidFill>
                <a:latin typeface="Calibri"/>
              </a:rPr>
              <a:t>Core Value Delivered: </a:t>
            </a:r>
            <a:r>
              <a:rPr lang="en-US" sz="2000" dirty="0">
                <a:solidFill>
                  <a:srgbClr val="1A2D5A"/>
                </a:solidFill>
                <a:latin typeface="Calibri"/>
              </a:rPr>
              <a:t>Provided market transparency for freelancers while establishing an empirical feedback loop for MCIT to optimize educational ROI.</a:t>
            </a:r>
          </a:p>
          <a:p>
            <a:endParaRPr lang="en-US" sz="2000" dirty="0">
              <a:solidFill>
                <a:srgbClr val="1A2D5A"/>
              </a:solidFill>
              <a:latin typeface="Calibri"/>
            </a:endParaRPr>
          </a:p>
          <a:p>
            <a:pPr marL="342900" indent="-342900">
              <a:buFont typeface="Arial" panose="020B0604020202020204" pitchFamily="34" charset="0"/>
              <a:buChar char="•"/>
            </a:pPr>
            <a:r>
              <a:rPr lang="en-US" sz="2000" b="1" dirty="0">
                <a:solidFill>
                  <a:srgbClr val="1A2D5A"/>
                </a:solidFill>
                <a:latin typeface="Calibri"/>
              </a:rPr>
              <a:t>Future Work &amp; Platform Enhancements:</a:t>
            </a:r>
          </a:p>
          <a:p>
            <a:endParaRPr lang="en-US" sz="2000" b="1" dirty="0">
              <a:solidFill>
                <a:srgbClr val="1A2D5A"/>
              </a:solidFill>
              <a:latin typeface="Calibri"/>
            </a:endParaRPr>
          </a:p>
          <a:p>
            <a:pPr marL="457200" indent="-457200">
              <a:buFont typeface="+mj-lt"/>
              <a:buAutoNum type="arabicPeriod"/>
            </a:pPr>
            <a:r>
              <a:rPr lang="en-US" sz="2000" b="1" dirty="0">
                <a:solidFill>
                  <a:srgbClr val="1A2D5A"/>
                </a:solidFill>
                <a:latin typeface="Calibri"/>
              </a:rPr>
              <a:t>Skill-Match Job Aggregator: </a:t>
            </a:r>
            <a:r>
              <a:rPr lang="en-US" sz="2000" dirty="0">
                <a:solidFill>
                  <a:srgbClr val="1A2D5A"/>
                </a:solidFill>
                <a:latin typeface="Calibri"/>
              </a:rPr>
              <a:t>Deploy a smart search feature allowing users to input their skills to automatically discover matching jobs and aggregate direct application URLs across platforms</a:t>
            </a:r>
          </a:p>
          <a:p>
            <a:pPr marL="457200" indent="-457200">
              <a:buFont typeface="+mj-lt"/>
              <a:buAutoNum type="arabicPeriod"/>
            </a:pPr>
            <a:r>
              <a:rPr lang="en-US" sz="2000" b="1" dirty="0">
                <a:solidFill>
                  <a:srgbClr val="1A2D5A"/>
                </a:solidFill>
                <a:latin typeface="Calibri"/>
              </a:rPr>
              <a:t>Real-Time Data Streaming: </a:t>
            </a:r>
            <a:r>
              <a:rPr lang="en-US" sz="2000" dirty="0">
                <a:solidFill>
                  <a:srgbClr val="1A2D5A"/>
                </a:solidFill>
                <a:latin typeface="Calibri"/>
              </a:rPr>
              <a:t>Integrate Apache Airflow pipelines for live market job streaming.</a:t>
            </a:r>
          </a:p>
          <a:p>
            <a:pPr marL="457200" indent="-457200">
              <a:buFont typeface="+mj-lt"/>
              <a:buAutoNum type="arabicPeriod"/>
            </a:pPr>
            <a:r>
              <a:rPr lang="en-US" sz="2000" b="1" dirty="0">
                <a:solidFill>
                  <a:srgbClr val="1A2D5A"/>
                </a:solidFill>
                <a:latin typeface="Calibri"/>
              </a:rPr>
              <a:t>Predictive Rate Modeling: </a:t>
            </a:r>
            <a:r>
              <a:rPr lang="en-US" sz="2000" dirty="0">
                <a:solidFill>
                  <a:srgbClr val="1A2D5A"/>
                </a:solidFill>
                <a:latin typeface="Calibri"/>
              </a:rPr>
              <a:t>Deploy NLP machine learning models to automatically forecast project budget ranges from job descriptions.</a:t>
            </a:r>
          </a:p>
          <a:p>
            <a:pPr marL="457200" indent="-457200">
              <a:buFont typeface="+mj-lt"/>
              <a:buAutoNum type="arabicPeriod"/>
            </a:pPr>
            <a:r>
              <a:rPr lang="en-US" sz="2000" b="1" dirty="0">
                <a:solidFill>
                  <a:srgbClr val="1A2D5A"/>
                </a:solidFill>
                <a:latin typeface="Calibri"/>
              </a:rPr>
              <a:t>NLP-Enhanced Rate Modeling: </a:t>
            </a:r>
            <a:r>
              <a:rPr lang="en-US" sz="2000" dirty="0">
                <a:solidFill>
                  <a:srgbClr val="1A2D5A"/>
                </a:solidFill>
                <a:latin typeface="Calibri"/>
              </a:rPr>
              <a:t>Expand the current </a:t>
            </a:r>
            <a:r>
              <a:rPr lang="en-US" sz="2000" dirty="0" err="1">
                <a:solidFill>
                  <a:srgbClr val="1A2D5A"/>
                </a:solidFill>
                <a:latin typeface="Calibri"/>
              </a:rPr>
              <a:t>CatBoost</a:t>
            </a:r>
            <a:r>
              <a:rPr lang="en-US" sz="2000" dirty="0">
                <a:solidFill>
                  <a:srgbClr val="1A2D5A"/>
                </a:solidFill>
                <a:latin typeface="Calibri"/>
              </a:rPr>
              <a:t> pricing model using    Natural Language Processing (NLP) to analyze contextual job descriptions.</a:t>
            </a:r>
          </a:p>
        </p:txBody>
      </p:sp>
      <p:sp>
        <p:nvSpPr>
          <p:cNvPr id="120" name="AckHdr"/>
          <p:cNvSpPr/>
          <p:nvPr/>
        </p:nvSpPr>
        <p:spPr>
          <a:xfrm>
            <a:off x="22148800" y="37186800"/>
            <a:ext cx="10160000" cy="1600200"/>
          </a:xfrm>
          <a:prstGeom prst="rect">
            <a:avLst/>
          </a:prstGeom>
          <a:solidFill>
            <a:srgbClr val="1A2D5A"/>
          </a:solidFill>
          <a:ln w="0">
            <a:noFill/>
          </a:ln>
        </p:spPr>
        <p:txBody>
          <a:bodyPr/>
          <a:lstStyle/>
          <a:p>
            <a:endParaRPr lang="en-US"/>
          </a:p>
        </p:txBody>
      </p:sp>
      <p:sp>
        <p:nvSpPr>
          <p:cNvPr id="121" name="AckHdrTxt"/>
          <p:cNvSpPr/>
          <p:nvPr/>
        </p:nvSpPr>
        <p:spPr>
          <a:xfrm>
            <a:off x="22453600" y="37186800"/>
            <a:ext cx="9855200" cy="1600200"/>
          </a:xfrm>
          <a:prstGeom prst="rect">
            <a:avLst/>
          </a:prstGeom>
          <a:noFill/>
        </p:spPr>
        <p:txBody>
          <a:bodyPr wrap="square" lIns="182880" tIns="91440" rIns="91440" bIns="91440" rtlCol="0" anchor="ctr"/>
          <a:lstStyle/>
          <a:p>
            <a:pPr algn="l">
              <a:buNone/>
            </a:pPr>
            <a:r>
              <a:rPr lang="en-US" sz="2800" b="1" dirty="0">
                <a:solidFill>
                  <a:srgbClr val="00AEEF"/>
                </a:solidFill>
                <a:latin typeface="Calibri"/>
              </a:rPr>
              <a:t>Acknowledgement</a:t>
            </a:r>
          </a:p>
        </p:txBody>
      </p:sp>
      <p:sp>
        <p:nvSpPr>
          <p:cNvPr id="122" name="AckBody"/>
          <p:cNvSpPr/>
          <p:nvPr/>
        </p:nvSpPr>
        <p:spPr>
          <a:xfrm>
            <a:off x="22148800" y="38787000"/>
            <a:ext cx="10160000" cy="4419600"/>
          </a:xfrm>
          <a:prstGeom prst="rect">
            <a:avLst/>
          </a:prstGeom>
          <a:solidFill>
            <a:srgbClr val="FFFFFF"/>
          </a:solidFill>
          <a:ln w="12700">
            <a:solidFill>
              <a:srgbClr val="B0BEC5"/>
            </a:solidFill>
          </a:ln>
        </p:spPr>
        <p:txBody>
          <a:bodyPr/>
          <a:lstStyle/>
          <a:p>
            <a:endParaRPr lang="en-US"/>
          </a:p>
        </p:txBody>
      </p:sp>
      <p:sp>
        <p:nvSpPr>
          <p:cNvPr id="123" name="AckBodyTxt"/>
          <p:cNvSpPr/>
          <p:nvPr/>
        </p:nvSpPr>
        <p:spPr>
          <a:xfrm>
            <a:off x="22187077" y="38938800"/>
            <a:ext cx="9551200" cy="4114800"/>
          </a:xfrm>
          <a:prstGeom prst="rect">
            <a:avLst/>
          </a:prstGeom>
          <a:noFill/>
        </p:spPr>
        <p:txBody>
          <a:bodyPr wrap="square" lIns="182880" tIns="91440" rIns="182880" bIns="91440" rtlCol="0" anchor="t"/>
          <a:lstStyle/>
          <a:p>
            <a:pPr marL="342900" indent="-342900">
              <a:buFont typeface="Arial" panose="020B0604020202020204" pitchFamily="34" charset="0"/>
              <a:buChar char="•"/>
            </a:pPr>
            <a:r>
              <a:rPr lang="en-US" sz="2000" dirty="0">
                <a:solidFill>
                  <a:srgbClr val="37474F"/>
                </a:solidFill>
                <a:latin typeface="Calibri"/>
              </a:rPr>
              <a:t>The team extends its deepest gratitude to the </a:t>
            </a:r>
            <a:r>
              <a:rPr lang="en-US" sz="2000" dirty="0" err="1">
                <a:solidFill>
                  <a:srgbClr val="37474F"/>
                </a:solidFill>
                <a:latin typeface="Calibri"/>
              </a:rPr>
              <a:t>DiGiLiANS</a:t>
            </a:r>
            <a:r>
              <a:rPr lang="en-US" sz="2000" dirty="0">
                <a:solidFill>
                  <a:srgbClr val="37474F"/>
                </a:solidFill>
                <a:latin typeface="Calibri"/>
              </a:rPr>
              <a:t> Program, the </a:t>
            </a:r>
            <a:r>
              <a:rPr lang="en-US" sz="2000" b="1" dirty="0">
                <a:solidFill>
                  <a:srgbClr val="37474F"/>
                </a:solidFill>
                <a:latin typeface="Calibri"/>
              </a:rPr>
              <a:t>Ministry of Communications and Information Technology (MCIT),</a:t>
            </a:r>
            <a:r>
              <a:rPr lang="en-US" sz="2000" b="1" dirty="0"/>
              <a:t> </a:t>
            </a:r>
            <a:r>
              <a:rPr lang="en-US" sz="2000" dirty="0">
                <a:solidFill>
                  <a:srgbClr val="37474F"/>
                </a:solidFill>
                <a:latin typeface="Calibri"/>
              </a:rPr>
              <a:t>the </a:t>
            </a:r>
            <a:r>
              <a:rPr lang="en-US" sz="2000" b="1" dirty="0">
                <a:solidFill>
                  <a:srgbClr val="37474F"/>
                </a:solidFill>
                <a:latin typeface="Calibri"/>
              </a:rPr>
              <a:t>Egyptian Military Academy,</a:t>
            </a:r>
            <a:r>
              <a:rPr lang="en-US" sz="2000" dirty="0">
                <a:solidFill>
                  <a:srgbClr val="37474F"/>
                </a:solidFill>
                <a:latin typeface="Calibri"/>
              </a:rPr>
              <a:t> and our </a:t>
            </a:r>
            <a:r>
              <a:rPr lang="en-US" sz="2000" b="1" dirty="0">
                <a:solidFill>
                  <a:srgbClr val="37474F"/>
                </a:solidFill>
                <a:latin typeface="Calibri"/>
              </a:rPr>
              <a:t>academic supervisor “Prof. Dr. Rania </a:t>
            </a:r>
            <a:r>
              <a:rPr lang="en-US" sz="2000" b="1" dirty="0" err="1">
                <a:solidFill>
                  <a:srgbClr val="37474F"/>
                </a:solidFill>
                <a:latin typeface="Calibri"/>
              </a:rPr>
              <a:t>Elgohary</a:t>
            </a:r>
            <a:r>
              <a:rPr lang="en-US" sz="2000" b="1" dirty="0"/>
              <a:t>” , </a:t>
            </a:r>
            <a:r>
              <a:rPr lang="en-US" sz="2000" dirty="0">
                <a:solidFill>
                  <a:srgbClr val="37474F"/>
                </a:solidFill>
                <a:latin typeface="Calibri"/>
              </a:rPr>
              <a:t>for their invaluable guidance, continuous support, and strategic leadership throughout the development of </a:t>
            </a:r>
            <a:r>
              <a:rPr lang="en-US" sz="2000" b="1" dirty="0" err="1">
                <a:solidFill>
                  <a:srgbClr val="37474F"/>
                </a:solidFill>
                <a:latin typeface="Calibri"/>
              </a:rPr>
              <a:t>SkillBridge</a:t>
            </a:r>
            <a:r>
              <a:rPr lang="en-US" sz="2000" b="1" dirty="0"/>
              <a:t>.</a:t>
            </a:r>
            <a:endParaRPr lang="en-US" sz="2000" dirty="0">
              <a:solidFill>
                <a:srgbClr val="37474F"/>
              </a:solidFill>
              <a:latin typeface="Calibri"/>
            </a:endParaRPr>
          </a:p>
        </p:txBody>
      </p:sp>
      <p:sp>
        <p:nvSpPr>
          <p:cNvPr id="130" name="RefBand"/>
          <p:cNvSpPr/>
          <p:nvPr/>
        </p:nvSpPr>
        <p:spPr>
          <a:xfrm>
            <a:off x="0" y="43358400"/>
            <a:ext cx="32918400" cy="533400"/>
          </a:xfrm>
          <a:prstGeom prst="rect">
            <a:avLst/>
          </a:prstGeom>
          <a:solidFill>
            <a:srgbClr val="1A2D5A"/>
          </a:solidFill>
          <a:ln w="0">
            <a:noFill/>
          </a:ln>
        </p:spPr>
        <p:txBody>
          <a:bodyPr/>
          <a:lstStyle/>
          <a:p>
            <a:endParaRPr lang="en-US"/>
          </a:p>
        </p:txBody>
      </p:sp>
      <p:sp>
        <p:nvSpPr>
          <p:cNvPr id="131" name="RefLabel"/>
          <p:cNvSpPr/>
          <p:nvPr/>
        </p:nvSpPr>
        <p:spPr>
          <a:xfrm>
            <a:off x="609600" y="43358400"/>
            <a:ext cx="4000000" cy="533400"/>
          </a:xfrm>
          <a:prstGeom prst="rect">
            <a:avLst/>
          </a:prstGeom>
          <a:noFill/>
        </p:spPr>
        <p:txBody>
          <a:bodyPr wrap="square" lIns="182880" tIns="45720" rIns="91440" bIns="45720" rtlCol="0" anchor="ctr"/>
          <a:lstStyle/>
          <a:p>
            <a:pPr algn="l">
              <a:buNone/>
            </a:pPr>
            <a:r>
              <a:rPr lang="en-US" sz="1800" b="1" dirty="0">
                <a:solidFill>
                  <a:srgbClr val="C8A84B"/>
                </a:solidFill>
                <a:latin typeface="Calibri"/>
              </a:rPr>
              <a:t>References:</a:t>
            </a:r>
          </a:p>
        </p:txBody>
      </p:sp>
      <p:sp>
        <p:nvSpPr>
          <p:cNvPr id="132" name="RefTxt"/>
          <p:cNvSpPr/>
          <p:nvPr/>
        </p:nvSpPr>
        <p:spPr>
          <a:xfrm>
            <a:off x="4457200" y="43358400"/>
            <a:ext cx="28004000" cy="533400"/>
          </a:xfrm>
          <a:prstGeom prst="rect">
            <a:avLst/>
          </a:prstGeom>
          <a:noFill/>
        </p:spPr>
        <p:txBody>
          <a:bodyPr wrap="square" lIns="91440" tIns="45720" rIns="182880" bIns="45720" rtlCol="0" anchor="ctr"/>
          <a:lstStyle/>
          <a:p>
            <a:r>
              <a:rPr lang="en-US" sz="1600" dirty="0">
                <a:solidFill>
                  <a:srgbClr val="B0BEC5"/>
                </a:solidFill>
                <a:latin typeface="Calibri"/>
              </a:rPr>
              <a:t>[1] MCIT Egypt, "Digital Pioneers Initiative &amp; Freelance Market Strategies," 2026. .    [2] World Bank Group, "Youth Employment and the Gig Economy in Developing Countries," 2025.    [3] Upwork &amp; Freelancer Market Reports, "Global Remote Skills Index &amp; Pricing Gaps," 2026.</a:t>
            </a:r>
          </a:p>
        </p:txBody>
      </p:sp>
      <p:sp>
        <p:nvSpPr>
          <p:cNvPr id="140" name="FooterBand"/>
          <p:cNvSpPr/>
          <p:nvPr/>
        </p:nvSpPr>
        <p:spPr>
          <a:xfrm>
            <a:off x="0" y="43891200"/>
            <a:ext cx="32918400" cy="0"/>
          </a:xfrm>
          <a:prstGeom prst="rect">
            <a:avLst/>
          </a:prstGeom>
          <a:solidFill>
            <a:srgbClr val="00AEEF"/>
          </a:solidFill>
          <a:ln w="0">
            <a:noFill/>
          </a:ln>
        </p:spPr>
        <p:txBody>
          <a:bodyPr/>
          <a:lstStyle/>
          <a:p>
            <a:endParaRPr lang="en-US"/>
          </a:p>
        </p:txBody>
      </p:sp>
      <p:pic>
        <p:nvPicPr>
          <p:cNvPr id="39" name="Picture 38">
            <a:extLst>
              <a:ext uri="{FF2B5EF4-FFF2-40B4-BE49-F238E27FC236}">
                <a16:creationId xmlns:a16="http://schemas.microsoft.com/office/drawing/2014/main" id="{31467699-CA7F-4E26-ABF2-0F608196DD85}"/>
              </a:ext>
            </a:extLst>
          </p:cNvPr>
          <p:cNvPicPr>
            <a:picLocks noChangeAspect="1"/>
          </p:cNvPicPr>
          <p:nvPr/>
        </p:nvPicPr>
        <p:blipFill>
          <a:blip r:embed="rId7"/>
          <a:stretch>
            <a:fillRect/>
          </a:stretch>
        </p:blipFill>
        <p:spPr>
          <a:xfrm>
            <a:off x="11379200" y="29185200"/>
            <a:ext cx="10160000" cy="14020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D1640723D6D8345BE376EBAC22B24B4" ma:contentTypeVersion="13" ma:contentTypeDescription="Create a new document." ma:contentTypeScope="" ma:versionID="37895d6a65c2fc2067a3e4cb28fe9763">
  <xsd:schema xmlns:xsd="http://www.w3.org/2001/XMLSchema" xmlns:xs="http://www.w3.org/2001/XMLSchema" xmlns:p="http://schemas.microsoft.com/office/2006/metadata/properties" xmlns:ns3="0a07b5c4-8948-41fb-ba74-9068271bb40a" xmlns:ns4="7b3d286f-db25-4301-b1a3-6d0151bd5deb" targetNamespace="http://schemas.microsoft.com/office/2006/metadata/properties" ma:root="true" ma:fieldsID="b4b12d473cd0c7bfc981713dc8556b46" ns3:_="" ns4:_="">
    <xsd:import namespace="0a07b5c4-8948-41fb-ba74-9068271bb40a"/>
    <xsd:import namespace="7b3d286f-db25-4301-b1a3-6d0151bd5deb"/>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MediaServiceOCR"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07b5c4-8948-41fb-ba74-9068271bb4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b3d286f-db25-4301-b1a3-6d0151bd5deb"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662949C9-76FF-431A-92E8-AB2B710A2DD1}">
  <ds:schemaRefs>
    <ds:schemaRef ds:uri="http://schemas.microsoft.com/sharepoint/v3/contenttype/forms"/>
  </ds:schemaRefs>
</ds:datastoreItem>
</file>

<file path=customXml/itemProps2.xml><?xml version="1.0" encoding="utf-8"?>
<ds:datastoreItem xmlns:ds="http://schemas.openxmlformats.org/officeDocument/2006/customXml" ds:itemID="{64F1E373-C968-4BF3-94CA-949069B62E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07b5c4-8948-41fb-ba74-9068271bb40a"/>
    <ds:schemaRef ds:uri="7b3d286f-db25-4301-b1a3-6d0151bd5d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B699B98-1B2E-4129-B003-21C174FA28CF}">
  <ds:schemaRefs>
    <ds:schemaRef ds:uri="http://schemas.microsoft.com/office/2006/metadata/properties"/>
    <ds:schemaRef ds:uri="0a07b5c4-8948-41fb-ba74-9068271bb40a"/>
    <ds:schemaRef ds:uri="http://schemas.microsoft.com/office/2006/documentManagement/types"/>
    <ds:schemaRef ds:uri="http://purl.org/dc/dcmitype/"/>
    <ds:schemaRef ds:uri="7b3d286f-db25-4301-b1a3-6d0151bd5deb"/>
    <ds:schemaRef ds:uri="http://schemas.openxmlformats.org/package/2006/metadata/core-properties"/>
    <ds:schemaRef ds:uri="http://www.w3.org/XML/1998/namespace"/>
    <ds:schemaRef ds:uri="http://schemas.microsoft.com/office/infopath/2007/PartnerControls"/>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915</TotalTime>
  <Words>1028</Words>
  <Application>Microsoft Office PowerPoint</Application>
  <PresentationFormat>Custom</PresentationFormat>
  <Paragraphs>71</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MS PGothic</vt:lpstr>
      <vt:lpstr>MS PGothic</vt:lpstr>
      <vt:lpstr>Arial</vt:lpstr>
      <vt:lpstr>Calibri</vt:lpstr>
      <vt:lpstr>Cambria Math</vt:lpstr>
      <vt:lpstr>Office Theme</vt:lpstr>
      <vt:lpstr>PowerPoint Presentation</vt:lpstr>
    </vt:vector>
  </TitlesOfParts>
  <Company>University of Alberta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48x36 Template - 3 column</dc:title>
  <dc:creator>Cooper Miranda</dc:creator>
  <cp:lastModifiedBy>A-FF-L4-D10@DIGI.LOCAL</cp:lastModifiedBy>
  <cp:revision>148</cp:revision>
  <dcterms:created xsi:type="dcterms:W3CDTF">2008-12-03T18:49:35Z</dcterms:created>
  <dcterms:modified xsi:type="dcterms:W3CDTF">2026-09-09T09:26:10Z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0x0101006D1640723D6D8345BE376EBAC22B24B4</vt:lpwstr>
  </property>
</Properties>
</file>